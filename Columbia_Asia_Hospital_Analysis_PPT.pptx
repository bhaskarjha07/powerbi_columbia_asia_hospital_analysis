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10287000" cx="18288000"/>
  <p:notesSz cx="18288000" cy="10287000"/>
  <p:embeddedFontLst>
    <p:embeddedFont>
      <p:font typeface="Arial Black"/>
      <p:regular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jsLLGjY+kWN42pK85L8CsYwpUM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ArialBlack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bcb8ae8026_0_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bcb8ae8026_0_0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showMasterSp="0" type="obj">
  <p:cSld name="OBJECT">
    <p:bg>
      <p:bgPr>
        <a:solidFill>
          <a:schemeClr val="dk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type="ctrTitle"/>
          </p:nvPr>
        </p:nvSpPr>
        <p:spPr>
          <a:xfrm>
            <a:off x="6910748" y="3742867"/>
            <a:ext cx="10187940" cy="2664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Trebuchet MS"/>
              <a:buNone/>
              <a:defRPr b="0" i="0" sz="5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" type="subTitle"/>
          </p:nvPr>
        </p:nvSpPr>
        <p:spPr>
          <a:xfrm>
            <a:off x="9150643" y="6945337"/>
            <a:ext cx="6390005" cy="1797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650"/>
              <a:buChar char="•"/>
              <a:defRPr b="0" i="0" sz="26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lvl="2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lvl="3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lvl="4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lvl="5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lvl="6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lvl="7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lvl="8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0"/>
          <p:cNvSpPr txBox="1"/>
          <p:nvPr>
            <p:ph idx="11" type="ftr"/>
          </p:nvPr>
        </p:nvSpPr>
        <p:spPr>
          <a:xfrm>
            <a:off x="1370692" y="8824913"/>
            <a:ext cx="1000929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0" type="dt"/>
          </p:nvPr>
        </p:nvSpPr>
        <p:spPr>
          <a:xfrm>
            <a:off x="11518104" y="8824913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15771017" y="8824913"/>
            <a:ext cx="11303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b="0" i="0" sz="1500" u="none" cap="none" strike="noStrike"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1370693" y="914401"/>
            <a:ext cx="15530642" cy="19894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" type="body"/>
          </p:nvPr>
        </p:nvSpPr>
        <p:spPr>
          <a:xfrm>
            <a:off x="1370693" y="3144096"/>
            <a:ext cx="15530643" cy="5542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0" type="dt"/>
          </p:nvPr>
        </p:nvSpPr>
        <p:spPr>
          <a:xfrm>
            <a:off x="11518104" y="8824913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1" type="ftr"/>
          </p:nvPr>
        </p:nvSpPr>
        <p:spPr>
          <a:xfrm>
            <a:off x="1370692" y="8824913"/>
            <a:ext cx="1000929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2" type="sldNum"/>
          </p:nvPr>
        </p:nvSpPr>
        <p:spPr>
          <a:xfrm>
            <a:off x="15771017" y="8824913"/>
            <a:ext cx="11303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/>
          <p:nvPr>
            <p:ph type="title"/>
          </p:nvPr>
        </p:nvSpPr>
        <p:spPr>
          <a:xfrm>
            <a:off x="1370693" y="914401"/>
            <a:ext cx="15530642" cy="19894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0" type="dt"/>
          </p:nvPr>
        </p:nvSpPr>
        <p:spPr>
          <a:xfrm>
            <a:off x="11518104" y="8824913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1" type="ftr"/>
          </p:nvPr>
        </p:nvSpPr>
        <p:spPr>
          <a:xfrm>
            <a:off x="1370692" y="8824913"/>
            <a:ext cx="1000929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2" type="sldNum"/>
          </p:nvPr>
        </p:nvSpPr>
        <p:spPr>
          <a:xfrm>
            <a:off x="15771017" y="8824913"/>
            <a:ext cx="11303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 txBox="1"/>
          <p:nvPr>
            <p:ph type="ctrTitle"/>
          </p:nvPr>
        </p:nvSpPr>
        <p:spPr>
          <a:xfrm>
            <a:off x="2392904" y="1683545"/>
            <a:ext cx="13502193" cy="358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Bookman Old Style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" type="subTitle"/>
          </p:nvPr>
        </p:nvSpPr>
        <p:spPr>
          <a:xfrm>
            <a:off x="2392904" y="5403057"/>
            <a:ext cx="13502193" cy="24836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/>
            </a:lvl1pPr>
            <a:lvl2pPr lvl="1" algn="ctr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/>
            </a:lvl2pPr>
            <a:lvl3pPr lvl="2" algn="ctr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/>
            </a:lvl3pPr>
            <a:lvl4pPr lvl="3" algn="ctr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ctr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ctr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ctr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ctr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ctr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23"/>
          <p:cNvSpPr txBox="1"/>
          <p:nvPr>
            <p:ph idx="10" type="dt"/>
          </p:nvPr>
        </p:nvSpPr>
        <p:spPr>
          <a:xfrm>
            <a:off x="11518104" y="8824913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11" type="ftr"/>
          </p:nvPr>
        </p:nvSpPr>
        <p:spPr>
          <a:xfrm>
            <a:off x="1370692" y="8824913"/>
            <a:ext cx="1000929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2" type="sldNum"/>
          </p:nvPr>
        </p:nvSpPr>
        <p:spPr>
          <a:xfrm>
            <a:off x="15771017" y="8824913"/>
            <a:ext cx="11303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/>
          <p:nvPr>
            <p:ph type="title"/>
          </p:nvPr>
        </p:nvSpPr>
        <p:spPr>
          <a:xfrm>
            <a:off x="1843866" y="985840"/>
            <a:ext cx="14600268" cy="427910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Font typeface="Bookman Old Style"/>
              <a:buNone/>
              <a:defRPr sz="5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4"/>
          <p:cNvSpPr txBox="1"/>
          <p:nvPr>
            <p:ph idx="1" type="body"/>
          </p:nvPr>
        </p:nvSpPr>
        <p:spPr>
          <a:xfrm>
            <a:off x="1843866" y="5403058"/>
            <a:ext cx="14600268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24"/>
          <p:cNvSpPr txBox="1"/>
          <p:nvPr>
            <p:ph idx="10" type="dt"/>
          </p:nvPr>
        </p:nvSpPr>
        <p:spPr>
          <a:xfrm>
            <a:off x="11518104" y="8824913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1" type="ftr"/>
          </p:nvPr>
        </p:nvSpPr>
        <p:spPr>
          <a:xfrm>
            <a:off x="1370692" y="8824913"/>
            <a:ext cx="1000929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2" type="sldNum"/>
          </p:nvPr>
        </p:nvSpPr>
        <p:spPr>
          <a:xfrm>
            <a:off x="15771017" y="8824913"/>
            <a:ext cx="11303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/>
          <p:nvPr>
            <p:ph type="title"/>
          </p:nvPr>
        </p:nvSpPr>
        <p:spPr>
          <a:xfrm>
            <a:off x="1370693" y="914401"/>
            <a:ext cx="15530642" cy="19894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" type="body"/>
          </p:nvPr>
        </p:nvSpPr>
        <p:spPr>
          <a:xfrm>
            <a:off x="1370693" y="3132479"/>
            <a:ext cx="7659006" cy="5554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idx="2" type="body"/>
          </p:nvPr>
        </p:nvSpPr>
        <p:spPr>
          <a:xfrm>
            <a:off x="9260105" y="3132479"/>
            <a:ext cx="7641231" cy="5554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5"/>
          <p:cNvSpPr txBox="1"/>
          <p:nvPr>
            <p:ph idx="10" type="dt"/>
          </p:nvPr>
        </p:nvSpPr>
        <p:spPr>
          <a:xfrm>
            <a:off x="11518104" y="8824913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5"/>
          <p:cNvSpPr txBox="1"/>
          <p:nvPr>
            <p:ph idx="11" type="ftr"/>
          </p:nvPr>
        </p:nvSpPr>
        <p:spPr>
          <a:xfrm>
            <a:off x="1370692" y="8824913"/>
            <a:ext cx="1000929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5"/>
          <p:cNvSpPr txBox="1"/>
          <p:nvPr>
            <p:ph idx="12" type="sldNum"/>
          </p:nvPr>
        </p:nvSpPr>
        <p:spPr>
          <a:xfrm>
            <a:off x="15771017" y="8824913"/>
            <a:ext cx="11303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6"/>
          <p:cNvSpPr txBox="1"/>
          <p:nvPr>
            <p:ph type="title"/>
          </p:nvPr>
        </p:nvSpPr>
        <p:spPr>
          <a:xfrm>
            <a:off x="1370693" y="914401"/>
            <a:ext cx="15530642" cy="19883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6"/>
          <p:cNvSpPr txBox="1"/>
          <p:nvPr>
            <p:ph idx="1" type="body"/>
          </p:nvPr>
        </p:nvSpPr>
        <p:spPr>
          <a:xfrm>
            <a:off x="1712707" y="3132480"/>
            <a:ext cx="7318799" cy="12358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/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/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b="1" sz="2700"/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9pPr>
          </a:lstStyle>
          <a:p/>
        </p:txBody>
      </p:sp>
      <p:sp>
        <p:nvSpPr>
          <p:cNvPr id="50" name="Google Shape;50;p26"/>
          <p:cNvSpPr txBox="1"/>
          <p:nvPr>
            <p:ph idx="2" type="body"/>
          </p:nvPr>
        </p:nvSpPr>
        <p:spPr>
          <a:xfrm>
            <a:off x="1370693" y="4368348"/>
            <a:ext cx="7660812" cy="43184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3" type="body"/>
          </p:nvPr>
        </p:nvSpPr>
        <p:spPr>
          <a:xfrm>
            <a:off x="9603005" y="3132480"/>
            <a:ext cx="7298331" cy="12358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/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/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b="1" sz="2700"/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9pPr>
          </a:lstStyle>
          <a:p/>
        </p:txBody>
      </p:sp>
      <p:sp>
        <p:nvSpPr>
          <p:cNvPr id="52" name="Google Shape;52;p26"/>
          <p:cNvSpPr txBox="1"/>
          <p:nvPr>
            <p:ph idx="4" type="body"/>
          </p:nvPr>
        </p:nvSpPr>
        <p:spPr>
          <a:xfrm>
            <a:off x="9258300" y="4368348"/>
            <a:ext cx="7643036" cy="43184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0" type="dt"/>
          </p:nvPr>
        </p:nvSpPr>
        <p:spPr>
          <a:xfrm>
            <a:off x="11518104" y="8824913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6"/>
          <p:cNvSpPr txBox="1"/>
          <p:nvPr>
            <p:ph idx="11" type="ftr"/>
          </p:nvPr>
        </p:nvSpPr>
        <p:spPr>
          <a:xfrm>
            <a:off x="1370692" y="8824913"/>
            <a:ext cx="1000929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6"/>
          <p:cNvSpPr txBox="1"/>
          <p:nvPr>
            <p:ph idx="12" type="sldNum"/>
          </p:nvPr>
        </p:nvSpPr>
        <p:spPr>
          <a:xfrm>
            <a:off x="15771017" y="8824913"/>
            <a:ext cx="11303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7"/>
          <p:cNvSpPr txBox="1"/>
          <p:nvPr>
            <p:ph idx="10" type="dt"/>
          </p:nvPr>
        </p:nvSpPr>
        <p:spPr>
          <a:xfrm>
            <a:off x="11518104" y="8824913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7"/>
          <p:cNvSpPr txBox="1"/>
          <p:nvPr>
            <p:ph idx="11" type="ftr"/>
          </p:nvPr>
        </p:nvSpPr>
        <p:spPr>
          <a:xfrm>
            <a:off x="1370692" y="8824913"/>
            <a:ext cx="1000929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2" type="sldNum"/>
          </p:nvPr>
        </p:nvSpPr>
        <p:spPr>
          <a:xfrm>
            <a:off x="15771017" y="8824913"/>
            <a:ext cx="11303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8"/>
          <p:cNvSpPr txBox="1"/>
          <p:nvPr>
            <p:ph type="title"/>
          </p:nvPr>
        </p:nvSpPr>
        <p:spPr>
          <a:xfrm>
            <a:off x="1375843" y="914400"/>
            <a:ext cx="5898356" cy="35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Bookman Old Style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8"/>
          <p:cNvSpPr txBox="1"/>
          <p:nvPr>
            <p:ph idx="1" type="body"/>
          </p:nvPr>
        </p:nvSpPr>
        <p:spPr>
          <a:xfrm>
            <a:off x="7617096" y="914400"/>
            <a:ext cx="9284238" cy="77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28"/>
          <p:cNvSpPr txBox="1"/>
          <p:nvPr>
            <p:ph idx="2" type="body"/>
          </p:nvPr>
        </p:nvSpPr>
        <p:spPr>
          <a:xfrm>
            <a:off x="1375843" y="4457700"/>
            <a:ext cx="5898356" cy="4229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64" name="Google Shape;64;p28"/>
          <p:cNvSpPr txBox="1"/>
          <p:nvPr>
            <p:ph idx="10" type="dt"/>
          </p:nvPr>
        </p:nvSpPr>
        <p:spPr>
          <a:xfrm>
            <a:off x="11518104" y="8824913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8"/>
          <p:cNvSpPr txBox="1"/>
          <p:nvPr>
            <p:ph idx="11" type="ftr"/>
          </p:nvPr>
        </p:nvSpPr>
        <p:spPr>
          <a:xfrm>
            <a:off x="1370692" y="8824913"/>
            <a:ext cx="1000929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2" type="sldNum"/>
          </p:nvPr>
        </p:nvSpPr>
        <p:spPr>
          <a:xfrm>
            <a:off x="15771017" y="8824913"/>
            <a:ext cx="11303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9"/>
          <p:cNvSpPr txBox="1"/>
          <p:nvPr>
            <p:ph type="title"/>
          </p:nvPr>
        </p:nvSpPr>
        <p:spPr>
          <a:xfrm>
            <a:off x="1375841" y="914400"/>
            <a:ext cx="8894660" cy="35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Bookman Old Style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9"/>
          <p:cNvSpPr/>
          <p:nvPr>
            <p:ph idx="2" type="pic"/>
          </p:nvPr>
        </p:nvSpPr>
        <p:spPr>
          <a:xfrm>
            <a:off x="11137206" y="1138322"/>
            <a:ext cx="4883034" cy="7324557"/>
          </a:xfrm>
          <a:prstGeom prst="rect">
            <a:avLst/>
          </a:prstGeom>
          <a:noFill/>
          <a:ln cap="sq" cmpd="sng" w="1905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sp>
      <p:sp>
        <p:nvSpPr>
          <p:cNvPr id="70" name="Google Shape;70;p29"/>
          <p:cNvSpPr txBox="1"/>
          <p:nvPr>
            <p:ph idx="1" type="body"/>
          </p:nvPr>
        </p:nvSpPr>
        <p:spPr>
          <a:xfrm>
            <a:off x="1370691" y="4457700"/>
            <a:ext cx="8902425" cy="4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/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11518104" y="8824913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1370692" y="8824913"/>
            <a:ext cx="1000929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15771017" y="8824913"/>
            <a:ext cx="11303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>
            <a:off x="1370709" y="6434059"/>
            <a:ext cx="15551346" cy="12290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Bookman Old Style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/>
          <p:nvPr>
            <p:ph idx="2" type="pic"/>
          </p:nvPr>
        </p:nvSpPr>
        <p:spPr>
          <a:xfrm>
            <a:off x="1370709" y="931982"/>
            <a:ext cx="15551346" cy="5069603"/>
          </a:xfrm>
          <a:prstGeom prst="rect">
            <a:avLst/>
          </a:prstGeom>
          <a:noFill/>
          <a:ln cap="sq" cmpd="sng" w="1905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sp>
      <p:sp>
        <p:nvSpPr>
          <p:cNvPr id="77" name="Google Shape;77;p30"/>
          <p:cNvSpPr txBox="1"/>
          <p:nvPr>
            <p:ph idx="1" type="body"/>
          </p:nvPr>
        </p:nvSpPr>
        <p:spPr>
          <a:xfrm>
            <a:off x="1370693" y="7663092"/>
            <a:ext cx="15548997" cy="10237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/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78" name="Google Shape;78;p30"/>
          <p:cNvSpPr txBox="1"/>
          <p:nvPr>
            <p:ph idx="10" type="dt"/>
          </p:nvPr>
        </p:nvSpPr>
        <p:spPr>
          <a:xfrm>
            <a:off x="11518104" y="8824913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1" type="ftr"/>
          </p:nvPr>
        </p:nvSpPr>
        <p:spPr>
          <a:xfrm>
            <a:off x="1370692" y="8824913"/>
            <a:ext cx="1000929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0"/>
          <p:cNvSpPr txBox="1"/>
          <p:nvPr>
            <p:ph idx="12" type="sldNum"/>
          </p:nvPr>
        </p:nvSpPr>
        <p:spPr>
          <a:xfrm>
            <a:off x="15771017" y="8824913"/>
            <a:ext cx="11303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1"/>
          <p:cNvSpPr txBox="1"/>
          <p:nvPr>
            <p:ph type="title"/>
          </p:nvPr>
        </p:nvSpPr>
        <p:spPr>
          <a:xfrm>
            <a:off x="1370693" y="914401"/>
            <a:ext cx="15530643" cy="5137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Bookman Old Style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1"/>
          <p:cNvSpPr txBox="1"/>
          <p:nvPr>
            <p:ph idx="1" type="body"/>
          </p:nvPr>
        </p:nvSpPr>
        <p:spPr>
          <a:xfrm>
            <a:off x="1370693" y="6307230"/>
            <a:ext cx="15530642" cy="23882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84" name="Google Shape;84;p31"/>
          <p:cNvSpPr txBox="1"/>
          <p:nvPr>
            <p:ph idx="10" type="dt"/>
          </p:nvPr>
        </p:nvSpPr>
        <p:spPr>
          <a:xfrm>
            <a:off x="11518104" y="8824913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1"/>
          <p:cNvSpPr txBox="1"/>
          <p:nvPr>
            <p:ph idx="11" type="ftr"/>
          </p:nvPr>
        </p:nvSpPr>
        <p:spPr>
          <a:xfrm>
            <a:off x="1370692" y="8824913"/>
            <a:ext cx="1000929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1"/>
          <p:cNvSpPr txBox="1"/>
          <p:nvPr>
            <p:ph idx="12" type="sldNum"/>
          </p:nvPr>
        </p:nvSpPr>
        <p:spPr>
          <a:xfrm>
            <a:off x="15771017" y="8824913"/>
            <a:ext cx="11303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2"/>
          <p:cNvSpPr txBox="1"/>
          <p:nvPr>
            <p:ph type="title"/>
          </p:nvPr>
        </p:nvSpPr>
        <p:spPr>
          <a:xfrm>
            <a:off x="2169318" y="914400"/>
            <a:ext cx="13954128" cy="4489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Bookman Old Style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2"/>
          <p:cNvSpPr txBox="1"/>
          <p:nvPr>
            <p:ph idx="1" type="body"/>
          </p:nvPr>
        </p:nvSpPr>
        <p:spPr>
          <a:xfrm>
            <a:off x="2580967" y="5415048"/>
            <a:ext cx="13128449" cy="640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90" name="Google Shape;90;p32"/>
          <p:cNvSpPr txBox="1"/>
          <p:nvPr>
            <p:ph idx="2" type="body"/>
          </p:nvPr>
        </p:nvSpPr>
        <p:spPr>
          <a:xfrm>
            <a:off x="1370691" y="6307232"/>
            <a:ext cx="15530643" cy="2379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91" name="Google Shape;91;p32"/>
          <p:cNvSpPr txBox="1"/>
          <p:nvPr>
            <p:ph idx="10" type="dt"/>
          </p:nvPr>
        </p:nvSpPr>
        <p:spPr>
          <a:xfrm>
            <a:off x="11518104" y="8824913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2"/>
          <p:cNvSpPr txBox="1"/>
          <p:nvPr>
            <p:ph idx="11" type="ftr"/>
          </p:nvPr>
        </p:nvSpPr>
        <p:spPr>
          <a:xfrm>
            <a:off x="1370692" y="8824913"/>
            <a:ext cx="1000929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2"/>
          <p:cNvSpPr txBox="1"/>
          <p:nvPr>
            <p:ph idx="12" type="sldNum"/>
          </p:nvPr>
        </p:nvSpPr>
        <p:spPr>
          <a:xfrm>
            <a:off x="15771017" y="8824913"/>
            <a:ext cx="11303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4" name="Google Shape;94;p32"/>
          <p:cNvSpPr txBox="1"/>
          <p:nvPr/>
        </p:nvSpPr>
        <p:spPr>
          <a:xfrm>
            <a:off x="1254918" y="1102862"/>
            <a:ext cx="914400" cy="877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137150" spcFirstLastPara="1" rIns="137150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ckwell"/>
              <a:buNone/>
            </a:pPr>
            <a:r>
              <a:rPr b="0" lang="en-IN" sz="12000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“</a:t>
            </a:r>
            <a:endParaRPr/>
          </a:p>
        </p:txBody>
      </p:sp>
      <p:sp>
        <p:nvSpPr>
          <p:cNvPr id="95" name="Google Shape;95;p32"/>
          <p:cNvSpPr txBox="1"/>
          <p:nvPr/>
        </p:nvSpPr>
        <p:spPr>
          <a:xfrm>
            <a:off x="15986934" y="4458140"/>
            <a:ext cx="914400" cy="877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137150" spcFirstLastPara="1" rIns="137150" wrap="square" tIns="68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ckwell"/>
              <a:buNone/>
            </a:pPr>
            <a:r>
              <a:rPr b="0" lang="en-IN" sz="12000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3"/>
          <p:cNvSpPr txBox="1"/>
          <p:nvPr>
            <p:ph type="title"/>
          </p:nvPr>
        </p:nvSpPr>
        <p:spPr>
          <a:xfrm>
            <a:off x="1370710" y="3190414"/>
            <a:ext cx="15532991" cy="37677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Bookman Old Style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3"/>
          <p:cNvSpPr txBox="1"/>
          <p:nvPr>
            <p:ph idx="1" type="body"/>
          </p:nvPr>
        </p:nvSpPr>
        <p:spPr>
          <a:xfrm>
            <a:off x="1370692" y="6975834"/>
            <a:ext cx="15530645" cy="17109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99" name="Google Shape;99;p33"/>
          <p:cNvSpPr txBox="1"/>
          <p:nvPr>
            <p:ph idx="10" type="dt"/>
          </p:nvPr>
        </p:nvSpPr>
        <p:spPr>
          <a:xfrm>
            <a:off x="11518104" y="8824913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3"/>
          <p:cNvSpPr txBox="1"/>
          <p:nvPr>
            <p:ph idx="11" type="ftr"/>
          </p:nvPr>
        </p:nvSpPr>
        <p:spPr>
          <a:xfrm>
            <a:off x="1370692" y="8824913"/>
            <a:ext cx="1000929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3"/>
          <p:cNvSpPr txBox="1"/>
          <p:nvPr>
            <p:ph idx="12" type="sldNum"/>
          </p:nvPr>
        </p:nvSpPr>
        <p:spPr>
          <a:xfrm>
            <a:off x="15771017" y="8824913"/>
            <a:ext cx="11303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4"/>
          <p:cNvSpPr txBox="1"/>
          <p:nvPr>
            <p:ph type="title"/>
          </p:nvPr>
        </p:nvSpPr>
        <p:spPr>
          <a:xfrm>
            <a:off x="1370691" y="914401"/>
            <a:ext cx="15530643" cy="19883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4"/>
          <p:cNvSpPr txBox="1"/>
          <p:nvPr>
            <p:ph idx="1" type="body"/>
          </p:nvPr>
        </p:nvSpPr>
        <p:spPr>
          <a:xfrm>
            <a:off x="1370691" y="3132479"/>
            <a:ext cx="4948434" cy="123495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0" sz="3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/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b="1" sz="2700"/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9pPr>
          </a:lstStyle>
          <a:p/>
        </p:txBody>
      </p:sp>
      <p:sp>
        <p:nvSpPr>
          <p:cNvPr id="105" name="Google Shape;105;p34"/>
          <p:cNvSpPr txBox="1"/>
          <p:nvPr>
            <p:ph idx="2" type="body"/>
          </p:nvPr>
        </p:nvSpPr>
        <p:spPr>
          <a:xfrm>
            <a:off x="1370691" y="4367436"/>
            <a:ext cx="4948434" cy="43193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9pPr>
          </a:lstStyle>
          <a:p/>
        </p:txBody>
      </p:sp>
      <p:sp>
        <p:nvSpPr>
          <p:cNvPr id="106" name="Google Shape;106;p34"/>
          <p:cNvSpPr txBox="1"/>
          <p:nvPr>
            <p:ph idx="3" type="body"/>
          </p:nvPr>
        </p:nvSpPr>
        <p:spPr>
          <a:xfrm>
            <a:off x="6667317" y="3132480"/>
            <a:ext cx="4947837" cy="12349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0" sz="3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/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b="1" sz="2700"/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9pPr>
          </a:lstStyle>
          <a:p/>
        </p:txBody>
      </p:sp>
      <p:sp>
        <p:nvSpPr>
          <p:cNvPr id="107" name="Google Shape;107;p34"/>
          <p:cNvSpPr txBox="1"/>
          <p:nvPr>
            <p:ph idx="4" type="body"/>
          </p:nvPr>
        </p:nvSpPr>
        <p:spPr>
          <a:xfrm>
            <a:off x="6667318" y="4367436"/>
            <a:ext cx="4949732" cy="43193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9pPr>
          </a:lstStyle>
          <a:p/>
        </p:txBody>
      </p:sp>
      <p:sp>
        <p:nvSpPr>
          <p:cNvPr id="108" name="Google Shape;108;p34"/>
          <p:cNvSpPr txBox="1"/>
          <p:nvPr>
            <p:ph idx="5" type="body"/>
          </p:nvPr>
        </p:nvSpPr>
        <p:spPr>
          <a:xfrm>
            <a:off x="11959948" y="3132480"/>
            <a:ext cx="4936817" cy="12349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0" sz="3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/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b="1" sz="2700"/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9pPr>
          </a:lstStyle>
          <a:p/>
        </p:txBody>
      </p:sp>
      <p:sp>
        <p:nvSpPr>
          <p:cNvPr id="109" name="Google Shape;109;p34"/>
          <p:cNvSpPr txBox="1"/>
          <p:nvPr>
            <p:ph idx="6" type="body"/>
          </p:nvPr>
        </p:nvSpPr>
        <p:spPr>
          <a:xfrm>
            <a:off x="11964520" y="4367436"/>
            <a:ext cx="4936817" cy="43193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9pPr>
          </a:lstStyle>
          <a:p/>
        </p:txBody>
      </p:sp>
      <p:sp>
        <p:nvSpPr>
          <p:cNvPr id="110" name="Google Shape;110;p34"/>
          <p:cNvSpPr txBox="1"/>
          <p:nvPr>
            <p:ph idx="10" type="dt"/>
          </p:nvPr>
        </p:nvSpPr>
        <p:spPr>
          <a:xfrm>
            <a:off x="11518104" y="8824913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4"/>
          <p:cNvSpPr txBox="1"/>
          <p:nvPr>
            <p:ph idx="11" type="ftr"/>
          </p:nvPr>
        </p:nvSpPr>
        <p:spPr>
          <a:xfrm>
            <a:off x="1370692" y="8824913"/>
            <a:ext cx="1000929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34"/>
          <p:cNvSpPr txBox="1"/>
          <p:nvPr>
            <p:ph idx="12" type="sldNum"/>
          </p:nvPr>
        </p:nvSpPr>
        <p:spPr>
          <a:xfrm>
            <a:off x="15771017" y="8824913"/>
            <a:ext cx="11303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5"/>
          <p:cNvSpPr txBox="1"/>
          <p:nvPr>
            <p:ph type="title"/>
          </p:nvPr>
        </p:nvSpPr>
        <p:spPr>
          <a:xfrm>
            <a:off x="1370693" y="914401"/>
            <a:ext cx="15530643" cy="19883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35"/>
          <p:cNvSpPr txBox="1"/>
          <p:nvPr>
            <p:ph idx="1" type="body"/>
          </p:nvPr>
        </p:nvSpPr>
        <p:spPr>
          <a:xfrm>
            <a:off x="1370693" y="6293849"/>
            <a:ext cx="4948433" cy="8643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3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/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b="1" sz="2700"/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9pPr>
          </a:lstStyle>
          <a:p/>
        </p:txBody>
      </p:sp>
      <p:sp>
        <p:nvSpPr>
          <p:cNvPr id="116" name="Google Shape;116;p35"/>
          <p:cNvSpPr/>
          <p:nvPr>
            <p:ph idx="2" type="pic"/>
          </p:nvPr>
        </p:nvSpPr>
        <p:spPr>
          <a:xfrm>
            <a:off x="1638030" y="3448481"/>
            <a:ext cx="4410075" cy="2286000"/>
          </a:xfrm>
          <a:prstGeom prst="roundRect">
            <a:avLst>
              <a:gd fmla="val 0" name="adj"/>
            </a:avLst>
          </a:prstGeom>
          <a:noFill/>
          <a:ln cap="sq" cmpd="sng" w="1460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sp>
      <p:sp>
        <p:nvSpPr>
          <p:cNvPr id="117" name="Google Shape;117;p35"/>
          <p:cNvSpPr txBox="1"/>
          <p:nvPr>
            <p:ph idx="3" type="body"/>
          </p:nvPr>
        </p:nvSpPr>
        <p:spPr>
          <a:xfrm>
            <a:off x="1370693" y="7158242"/>
            <a:ext cx="4948433" cy="1528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9pPr>
          </a:lstStyle>
          <a:p/>
        </p:txBody>
      </p:sp>
      <p:sp>
        <p:nvSpPr>
          <p:cNvPr id="118" name="Google Shape;118;p35"/>
          <p:cNvSpPr txBox="1"/>
          <p:nvPr>
            <p:ph idx="4" type="body"/>
          </p:nvPr>
        </p:nvSpPr>
        <p:spPr>
          <a:xfrm>
            <a:off x="6664052" y="6293849"/>
            <a:ext cx="4948475" cy="8643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3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/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b="1" sz="2700"/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9pPr>
          </a:lstStyle>
          <a:p/>
        </p:txBody>
      </p:sp>
      <p:sp>
        <p:nvSpPr>
          <p:cNvPr id="119" name="Google Shape;119;p35"/>
          <p:cNvSpPr/>
          <p:nvPr>
            <p:ph idx="5" type="pic"/>
          </p:nvPr>
        </p:nvSpPr>
        <p:spPr>
          <a:xfrm>
            <a:off x="6853495" y="3448481"/>
            <a:ext cx="4395788" cy="2286000"/>
          </a:xfrm>
          <a:prstGeom prst="roundRect">
            <a:avLst>
              <a:gd fmla="val 0" name="adj"/>
            </a:avLst>
          </a:prstGeom>
          <a:noFill/>
          <a:ln cap="sq" cmpd="sng" w="1460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sp>
      <p:sp>
        <p:nvSpPr>
          <p:cNvPr id="120" name="Google Shape;120;p35"/>
          <p:cNvSpPr txBox="1"/>
          <p:nvPr>
            <p:ph idx="6" type="body"/>
          </p:nvPr>
        </p:nvSpPr>
        <p:spPr>
          <a:xfrm>
            <a:off x="6662022" y="7158240"/>
            <a:ext cx="4950504" cy="1528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9pPr>
          </a:lstStyle>
          <a:p/>
        </p:txBody>
      </p:sp>
      <p:sp>
        <p:nvSpPr>
          <p:cNvPr id="121" name="Google Shape;121;p35"/>
          <p:cNvSpPr txBox="1"/>
          <p:nvPr>
            <p:ph idx="7" type="body"/>
          </p:nvPr>
        </p:nvSpPr>
        <p:spPr>
          <a:xfrm>
            <a:off x="11960135" y="6293849"/>
            <a:ext cx="4934850" cy="8643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3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/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b="1" sz="2700"/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9pPr>
          </a:lstStyle>
          <a:p/>
        </p:txBody>
      </p:sp>
      <p:sp>
        <p:nvSpPr>
          <p:cNvPr id="122" name="Google Shape;122;p35"/>
          <p:cNvSpPr/>
          <p:nvPr>
            <p:ph idx="8" type="pic"/>
          </p:nvPr>
        </p:nvSpPr>
        <p:spPr>
          <a:xfrm>
            <a:off x="12229205" y="3448481"/>
            <a:ext cx="4398170" cy="2286000"/>
          </a:xfrm>
          <a:prstGeom prst="roundRect">
            <a:avLst>
              <a:gd fmla="val 0" name="adj"/>
            </a:avLst>
          </a:prstGeom>
          <a:noFill/>
          <a:ln cap="sq" cmpd="sng" w="1460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sp>
      <p:sp>
        <p:nvSpPr>
          <p:cNvPr id="123" name="Google Shape;123;p35"/>
          <p:cNvSpPr txBox="1"/>
          <p:nvPr>
            <p:ph idx="9" type="body"/>
          </p:nvPr>
        </p:nvSpPr>
        <p:spPr>
          <a:xfrm>
            <a:off x="11959947" y="7158242"/>
            <a:ext cx="4941387" cy="1528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9pPr>
          </a:lstStyle>
          <a:p/>
        </p:txBody>
      </p:sp>
      <p:sp>
        <p:nvSpPr>
          <p:cNvPr id="124" name="Google Shape;124;p35"/>
          <p:cNvSpPr txBox="1"/>
          <p:nvPr>
            <p:ph idx="10" type="dt"/>
          </p:nvPr>
        </p:nvSpPr>
        <p:spPr>
          <a:xfrm>
            <a:off x="11518104" y="8824913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35"/>
          <p:cNvSpPr txBox="1"/>
          <p:nvPr>
            <p:ph idx="11" type="ftr"/>
          </p:nvPr>
        </p:nvSpPr>
        <p:spPr>
          <a:xfrm>
            <a:off x="1370692" y="8824913"/>
            <a:ext cx="1000929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5"/>
          <p:cNvSpPr txBox="1"/>
          <p:nvPr>
            <p:ph idx="12" type="sldNum"/>
          </p:nvPr>
        </p:nvSpPr>
        <p:spPr>
          <a:xfrm>
            <a:off x="15771017" y="8824913"/>
            <a:ext cx="11303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6"/>
          <p:cNvSpPr txBox="1"/>
          <p:nvPr>
            <p:ph type="title"/>
          </p:nvPr>
        </p:nvSpPr>
        <p:spPr>
          <a:xfrm>
            <a:off x="1370693" y="914401"/>
            <a:ext cx="15530642" cy="19894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6"/>
          <p:cNvSpPr txBox="1"/>
          <p:nvPr>
            <p:ph idx="1" type="body"/>
          </p:nvPr>
        </p:nvSpPr>
        <p:spPr>
          <a:xfrm rot="5400000">
            <a:off x="6364662" y="-1849873"/>
            <a:ext cx="5542704" cy="155306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36"/>
          <p:cNvSpPr txBox="1"/>
          <p:nvPr>
            <p:ph idx="10" type="dt"/>
          </p:nvPr>
        </p:nvSpPr>
        <p:spPr>
          <a:xfrm>
            <a:off x="11518104" y="8824913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6"/>
          <p:cNvSpPr txBox="1"/>
          <p:nvPr>
            <p:ph idx="11" type="ftr"/>
          </p:nvPr>
        </p:nvSpPr>
        <p:spPr>
          <a:xfrm>
            <a:off x="1370692" y="8824913"/>
            <a:ext cx="1000929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6"/>
          <p:cNvSpPr txBox="1"/>
          <p:nvPr>
            <p:ph idx="12" type="sldNum"/>
          </p:nvPr>
        </p:nvSpPr>
        <p:spPr>
          <a:xfrm>
            <a:off x="15771017" y="8824913"/>
            <a:ext cx="11303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7"/>
          <p:cNvSpPr txBox="1"/>
          <p:nvPr>
            <p:ph type="title"/>
          </p:nvPr>
        </p:nvSpPr>
        <p:spPr>
          <a:xfrm rot="5400000">
            <a:off x="11108143" y="2893607"/>
            <a:ext cx="7772402" cy="38139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Font typeface="Bookman Old Styl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7"/>
          <p:cNvSpPr txBox="1"/>
          <p:nvPr>
            <p:ph idx="1" type="body"/>
          </p:nvPr>
        </p:nvSpPr>
        <p:spPr>
          <a:xfrm rot="5400000">
            <a:off x="3228520" y="-943429"/>
            <a:ext cx="7772402" cy="114880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37"/>
          <p:cNvSpPr txBox="1"/>
          <p:nvPr>
            <p:ph idx="10" type="dt"/>
          </p:nvPr>
        </p:nvSpPr>
        <p:spPr>
          <a:xfrm>
            <a:off x="11518104" y="8824913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7"/>
          <p:cNvSpPr txBox="1"/>
          <p:nvPr>
            <p:ph idx="11" type="ftr"/>
          </p:nvPr>
        </p:nvSpPr>
        <p:spPr>
          <a:xfrm>
            <a:off x="1370692" y="8824913"/>
            <a:ext cx="1000929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7"/>
          <p:cNvSpPr txBox="1"/>
          <p:nvPr>
            <p:ph idx="12" type="sldNum"/>
          </p:nvPr>
        </p:nvSpPr>
        <p:spPr>
          <a:xfrm>
            <a:off x="15771017" y="8824913"/>
            <a:ext cx="11303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1370693" y="914401"/>
            <a:ext cx="15530642" cy="19894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Font typeface="Bookman Old Style"/>
              <a:buNone/>
              <a:defRPr b="1" i="0" sz="5100" u="none" cap="none" strike="noStrik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1370693" y="3144096"/>
            <a:ext cx="15530643" cy="5542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marR="0" rtl="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-400050" lvl="1" marL="914400" marR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-381000" lvl="2" marL="1371600" marR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-361950" lvl="3" marL="1828800" marR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-342900" lvl="4" marL="2286000" marR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-342900" lvl="5" marL="2743200" marR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-342900" lvl="6" marL="3200400" marR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-342900" lvl="7" marL="3657600" marR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-342900" lvl="8" marL="4114800" marR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11518104" y="8824913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1370692" y="8824913"/>
            <a:ext cx="1000929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15771017" y="8824913"/>
            <a:ext cx="11303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jp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Relationship Id="rId4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8324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44" name="Google Shape;144;p1"/>
          <p:cNvSpPr/>
          <p:nvPr/>
        </p:nvSpPr>
        <p:spPr>
          <a:xfrm>
            <a:off x="15044514" y="-1"/>
            <a:ext cx="3243580" cy="2713990"/>
          </a:xfrm>
          <a:custGeom>
            <a:rect b="b" l="l" r="r" t="t"/>
            <a:pathLst>
              <a:path extrusionOk="0" h="2713990" w="3243580">
                <a:moveTo>
                  <a:pt x="3243483" y="2713494"/>
                </a:moveTo>
                <a:lnTo>
                  <a:pt x="3214181" y="2713494"/>
                </a:lnTo>
                <a:lnTo>
                  <a:pt x="3063950" y="2675394"/>
                </a:lnTo>
                <a:lnTo>
                  <a:pt x="3014349" y="2675394"/>
                </a:lnTo>
                <a:lnTo>
                  <a:pt x="2579424" y="2561094"/>
                </a:lnTo>
                <a:lnTo>
                  <a:pt x="2532451" y="2535694"/>
                </a:lnTo>
                <a:lnTo>
                  <a:pt x="2393258" y="2497594"/>
                </a:lnTo>
                <a:lnTo>
                  <a:pt x="2347449" y="2472194"/>
                </a:lnTo>
                <a:lnTo>
                  <a:pt x="2256741" y="2446794"/>
                </a:lnTo>
                <a:lnTo>
                  <a:pt x="2211850" y="2421394"/>
                </a:lnTo>
                <a:lnTo>
                  <a:pt x="2167272" y="2408694"/>
                </a:lnTo>
                <a:lnTo>
                  <a:pt x="2123012" y="2383294"/>
                </a:lnTo>
                <a:lnTo>
                  <a:pt x="2079074" y="2370594"/>
                </a:lnTo>
                <a:lnTo>
                  <a:pt x="2035461" y="2345194"/>
                </a:lnTo>
                <a:lnTo>
                  <a:pt x="1992179" y="2332494"/>
                </a:lnTo>
                <a:lnTo>
                  <a:pt x="1906621" y="2281694"/>
                </a:lnTo>
                <a:lnTo>
                  <a:pt x="1864354" y="2268994"/>
                </a:lnTo>
                <a:lnTo>
                  <a:pt x="1739645" y="2192794"/>
                </a:lnTo>
                <a:lnTo>
                  <a:pt x="1698787" y="2180094"/>
                </a:lnTo>
                <a:lnTo>
                  <a:pt x="1578405" y="2103894"/>
                </a:lnTo>
                <a:lnTo>
                  <a:pt x="1461397" y="2027694"/>
                </a:lnTo>
                <a:lnTo>
                  <a:pt x="1385320" y="1976894"/>
                </a:lnTo>
                <a:lnTo>
                  <a:pt x="1310824" y="1926094"/>
                </a:lnTo>
                <a:lnTo>
                  <a:pt x="1237941" y="1875294"/>
                </a:lnTo>
                <a:lnTo>
                  <a:pt x="1166704" y="1824494"/>
                </a:lnTo>
                <a:lnTo>
                  <a:pt x="1131713" y="1786394"/>
                </a:lnTo>
                <a:lnTo>
                  <a:pt x="1063007" y="1735594"/>
                </a:lnTo>
                <a:lnTo>
                  <a:pt x="1029299" y="1710194"/>
                </a:lnTo>
                <a:lnTo>
                  <a:pt x="996027" y="1672094"/>
                </a:lnTo>
                <a:lnTo>
                  <a:pt x="963196" y="1646694"/>
                </a:lnTo>
                <a:lnTo>
                  <a:pt x="930808" y="1621294"/>
                </a:lnTo>
                <a:lnTo>
                  <a:pt x="898869" y="1583194"/>
                </a:lnTo>
                <a:lnTo>
                  <a:pt x="867382" y="1557794"/>
                </a:lnTo>
                <a:lnTo>
                  <a:pt x="836351" y="1519694"/>
                </a:lnTo>
                <a:lnTo>
                  <a:pt x="805781" y="1494294"/>
                </a:lnTo>
                <a:lnTo>
                  <a:pt x="775675" y="1456194"/>
                </a:lnTo>
                <a:lnTo>
                  <a:pt x="746038" y="1430794"/>
                </a:lnTo>
                <a:lnTo>
                  <a:pt x="716873" y="1392694"/>
                </a:lnTo>
                <a:lnTo>
                  <a:pt x="688185" y="1367294"/>
                </a:lnTo>
                <a:lnTo>
                  <a:pt x="659978" y="1329194"/>
                </a:lnTo>
                <a:lnTo>
                  <a:pt x="632256" y="1303794"/>
                </a:lnTo>
                <a:lnTo>
                  <a:pt x="605022" y="1265694"/>
                </a:lnTo>
                <a:lnTo>
                  <a:pt x="578282" y="1227594"/>
                </a:lnTo>
                <a:lnTo>
                  <a:pt x="552038" y="1202194"/>
                </a:lnTo>
                <a:lnTo>
                  <a:pt x="526296" y="1164094"/>
                </a:lnTo>
                <a:lnTo>
                  <a:pt x="501059" y="1125994"/>
                </a:lnTo>
                <a:lnTo>
                  <a:pt x="476331" y="1100594"/>
                </a:lnTo>
                <a:lnTo>
                  <a:pt x="452116" y="1062494"/>
                </a:lnTo>
                <a:lnTo>
                  <a:pt x="428419" y="1024394"/>
                </a:lnTo>
                <a:lnTo>
                  <a:pt x="405244" y="986294"/>
                </a:lnTo>
                <a:lnTo>
                  <a:pt x="382594" y="948194"/>
                </a:lnTo>
                <a:lnTo>
                  <a:pt x="360474" y="922794"/>
                </a:lnTo>
                <a:lnTo>
                  <a:pt x="338887" y="884694"/>
                </a:lnTo>
                <a:lnTo>
                  <a:pt x="317838" y="846594"/>
                </a:lnTo>
                <a:lnTo>
                  <a:pt x="297331" y="808494"/>
                </a:lnTo>
                <a:lnTo>
                  <a:pt x="277370" y="770394"/>
                </a:lnTo>
                <a:lnTo>
                  <a:pt x="257959" y="732294"/>
                </a:lnTo>
                <a:lnTo>
                  <a:pt x="239103" y="694194"/>
                </a:lnTo>
                <a:lnTo>
                  <a:pt x="220804" y="656094"/>
                </a:lnTo>
                <a:lnTo>
                  <a:pt x="203067" y="617994"/>
                </a:lnTo>
                <a:lnTo>
                  <a:pt x="185897" y="579894"/>
                </a:lnTo>
                <a:lnTo>
                  <a:pt x="169298" y="541794"/>
                </a:lnTo>
                <a:lnTo>
                  <a:pt x="153272" y="503694"/>
                </a:lnTo>
                <a:lnTo>
                  <a:pt x="137826" y="465594"/>
                </a:lnTo>
                <a:lnTo>
                  <a:pt x="122962" y="427494"/>
                </a:lnTo>
                <a:lnTo>
                  <a:pt x="108684" y="389394"/>
                </a:lnTo>
                <a:lnTo>
                  <a:pt x="94998" y="351294"/>
                </a:lnTo>
                <a:lnTo>
                  <a:pt x="81906" y="313194"/>
                </a:lnTo>
                <a:lnTo>
                  <a:pt x="69413" y="275094"/>
                </a:lnTo>
                <a:lnTo>
                  <a:pt x="57523" y="236994"/>
                </a:lnTo>
                <a:lnTo>
                  <a:pt x="46240" y="198894"/>
                </a:lnTo>
                <a:lnTo>
                  <a:pt x="35568" y="160794"/>
                </a:lnTo>
                <a:lnTo>
                  <a:pt x="25512" y="109994"/>
                </a:lnTo>
                <a:lnTo>
                  <a:pt x="16075" y="71894"/>
                </a:lnTo>
                <a:lnTo>
                  <a:pt x="7261" y="33794"/>
                </a:lnTo>
                <a:lnTo>
                  <a:pt x="0" y="0"/>
                </a:lnTo>
                <a:lnTo>
                  <a:pt x="3243483" y="0"/>
                </a:lnTo>
                <a:lnTo>
                  <a:pt x="3243483" y="2713494"/>
                </a:lnTo>
                <a:close/>
              </a:path>
            </a:pathLst>
          </a:custGeom>
          <a:solidFill>
            <a:srgbClr val="18324D">
              <a:alpha val="1568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45" name="Google Shape;145;p1"/>
          <p:cNvSpPr/>
          <p:nvPr/>
        </p:nvSpPr>
        <p:spPr>
          <a:xfrm>
            <a:off x="0" y="8189538"/>
            <a:ext cx="3215005" cy="2098040"/>
          </a:xfrm>
          <a:custGeom>
            <a:rect b="b" l="l" r="r" t="t"/>
            <a:pathLst>
              <a:path extrusionOk="0" h="2098040" w="3215005">
                <a:moveTo>
                  <a:pt x="3214507" y="2097461"/>
                </a:moveTo>
                <a:lnTo>
                  <a:pt x="0" y="2097461"/>
                </a:lnTo>
                <a:lnTo>
                  <a:pt x="0" y="0"/>
                </a:lnTo>
                <a:lnTo>
                  <a:pt x="24268" y="0"/>
                </a:lnTo>
                <a:lnTo>
                  <a:pt x="75923" y="12699"/>
                </a:lnTo>
                <a:lnTo>
                  <a:pt x="127350" y="12699"/>
                </a:lnTo>
                <a:lnTo>
                  <a:pt x="330695" y="63499"/>
                </a:lnTo>
                <a:lnTo>
                  <a:pt x="380920" y="63499"/>
                </a:lnTo>
                <a:lnTo>
                  <a:pt x="725200" y="152399"/>
                </a:lnTo>
                <a:lnTo>
                  <a:pt x="773292" y="177799"/>
                </a:lnTo>
                <a:lnTo>
                  <a:pt x="915845" y="215899"/>
                </a:lnTo>
                <a:lnTo>
                  <a:pt x="962774" y="241299"/>
                </a:lnTo>
                <a:lnTo>
                  <a:pt x="1055725" y="266699"/>
                </a:lnTo>
                <a:lnTo>
                  <a:pt x="1101740" y="292099"/>
                </a:lnTo>
                <a:lnTo>
                  <a:pt x="1192826" y="317499"/>
                </a:lnTo>
                <a:lnTo>
                  <a:pt x="1237889" y="342899"/>
                </a:lnTo>
                <a:lnTo>
                  <a:pt x="1282627" y="355599"/>
                </a:lnTo>
                <a:lnTo>
                  <a:pt x="1327036" y="380999"/>
                </a:lnTo>
                <a:lnTo>
                  <a:pt x="1371112" y="393699"/>
                </a:lnTo>
                <a:lnTo>
                  <a:pt x="1458249" y="444499"/>
                </a:lnTo>
                <a:lnTo>
                  <a:pt x="1501301" y="457199"/>
                </a:lnTo>
                <a:lnTo>
                  <a:pt x="1586354" y="507999"/>
                </a:lnTo>
                <a:lnTo>
                  <a:pt x="1628347" y="520699"/>
                </a:lnTo>
                <a:lnTo>
                  <a:pt x="1752140" y="596899"/>
                </a:lnTo>
                <a:lnTo>
                  <a:pt x="1872573" y="673099"/>
                </a:lnTo>
                <a:lnTo>
                  <a:pt x="1911951" y="685799"/>
                </a:lnTo>
                <a:lnTo>
                  <a:pt x="1950940" y="711199"/>
                </a:lnTo>
                <a:lnTo>
                  <a:pt x="2027732" y="761999"/>
                </a:lnTo>
                <a:lnTo>
                  <a:pt x="2065528" y="800099"/>
                </a:lnTo>
                <a:lnTo>
                  <a:pt x="2139898" y="850899"/>
                </a:lnTo>
                <a:lnTo>
                  <a:pt x="2212614" y="901699"/>
                </a:lnTo>
                <a:lnTo>
                  <a:pt x="2283641" y="952499"/>
                </a:lnTo>
                <a:lnTo>
                  <a:pt x="2318513" y="990599"/>
                </a:lnTo>
                <a:lnTo>
                  <a:pt x="2352950" y="1015999"/>
                </a:lnTo>
                <a:lnTo>
                  <a:pt x="2420506" y="1066799"/>
                </a:lnTo>
                <a:lnTo>
                  <a:pt x="2453617" y="1104899"/>
                </a:lnTo>
                <a:lnTo>
                  <a:pt x="2486278" y="1130299"/>
                </a:lnTo>
                <a:lnTo>
                  <a:pt x="2518485" y="1155699"/>
                </a:lnTo>
                <a:lnTo>
                  <a:pt x="2550234" y="1193799"/>
                </a:lnTo>
                <a:lnTo>
                  <a:pt x="2581520" y="1219199"/>
                </a:lnTo>
                <a:lnTo>
                  <a:pt x="2612341" y="1257299"/>
                </a:lnTo>
                <a:lnTo>
                  <a:pt x="2642691" y="1282699"/>
                </a:lnTo>
                <a:lnTo>
                  <a:pt x="2672567" y="1320799"/>
                </a:lnTo>
                <a:lnTo>
                  <a:pt x="2701964" y="1346199"/>
                </a:lnTo>
                <a:lnTo>
                  <a:pt x="2730880" y="1384299"/>
                </a:lnTo>
                <a:lnTo>
                  <a:pt x="2759308" y="1409699"/>
                </a:lnTo>
                <a:lnTo>
                  <a:pt x="2787247" y="1447799"/>
                </a:lnTo>
                <a:lnTo>
                  <a:pt x="2814691" y="1473199"/>
                </a:lnTo>
                <a:lnTo>
                  <a:pt x="2841637" y="1511299"/>
                </a:lnTo>
                <a:lnTo>
                  <a:pt x="2868080" y="1549399"/>
                </a:lnTo>
                <a:lnTo>
                  <a:pt x="2894016" y="1574799"/>
                </a:lnTo>
                <a:lnTo>
                  <a:pt x="2919442" y="1612899"/>
                </a:lnTo>
                <a:lnTo>
                  <a:pt x="2944354" y="1650999"/>
                </a:lnTo>
                <a:lnTo>
                  <a:pt x="2968747" y="1676399"/>
                </a:lnTo>
                <a:lnTo>
                  <a:pt x="2992617" y="1714499"/>
                </a:lnTo>
                <a:lnTo>
                  <a:pt x="3015960" y="1752599"/>
                </a:lnTo>
                <a:lnTo>
                  <a:pt x="3038773" y="1790699"/>
                </a:lnTo>
                <a:lnTo>
                  <a:pt x="3061051" y="1816099"/>
                </a:lnTo>
                <a:lnTo>
                  <a:pt x="3082790" y="1854199"/>
                </a:lnTo>
                <a:lnTo>
                  <a:pt x="3103986" y="1892299"/>
                </a:lnTo>
                <a:lnTo>
                  <a:pt x="3124636" y="1930399"/>
                </a:lnTo>
                <a:lnTo>
                  <a:pt x="3144735" y="1968499"/>
                </a:lnTo>
                <a:lnTo>
                  <a:pt x="3164278" y="2006599"/>
                </a:lnTo>
                <a:lnTo>
                  <a:pt x="3183263" y="2044699"/>
                </a:lnTo>
                <a:lnTo>
                  <a:pt x="3201685" y="2070099"/>
                </a:lnTo>
                <a:lnTo>
                  <a:pt x="3214507" y="2097461"/>
                </a:lnTo>
                <a:close/>
              </a:path>
            </a:pathLst>
          </a:custGeom>
          <a:solidFill>
            <a:srgbClr val="11253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146" name="Google Shape;14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2670" y="318769"/>
            <a:ext cx="5257799" cy="207644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"/>
          <p:cNvSpPr txBox="1"/>
          <p:nvPr>
            <p:ph type="ctrTitle"/>
          </p:nvPr>
        </p:nvSpPr>
        <p:spPr>
          <a:xfrm>
            <a:off x="3657600" y="5047750"/>
            <a:ext cx="10187940" cy="2664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5875">
            <a:spAutoFit/>
          </a:bodyPr>
          <a:lstStyle/>
          <a:p>
            <a:pPr indent="0" lvl="0" marL="12700" rtl="0" algn="ctr">
              <a:lnSpc>
                <a:spcPct val="111092"/>
              </a:lnSpc>
              <a:spcBef>
                <a:spcPts val="0"/>
              </a:spcBef>
              <a:spcAft>
                <a:spcPts val="0"/>
              </a:spcAft>
              <a:buClr>
                <a:srgbClr val="53C79A"/>
              </a:buClr>
              <a:buSzPts val="9150"/>
              <a:buFont typeface="Lucida Sans"/>
              <a:buNone/>
            </a:pPr>
            <a:r>
              <a:rPr lang="en-IN" sz="9150">
                <a:solidFill>
                  <a:srgbClr val="53C79A"/>
                </a:solidFill>
                <a:latin typeface="Lucida Sans"/>
                <a:ea typeface="Lucida Sans"/>
                <a:cs typeface="Lucida Sans"/>
                <a:sym typeface="Lucida Sans"/>
              </a:rPr>
              <a:t>COLUMBIA ASIA</a:t>
            </a:r>
            <a:endParaRPr sz="915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12700" rtl="0" algn="ctr">
              <a:lnSpc>
                <a:spcPct val="111421"/>
              </a:lnSpc>
              <a:spcBef>
                <a:spcPts val="0"/>
              </a:spcBef>
              <a:spcAft>
                <a:spcPts val="0"/>
              </a:spcAft>
              <a:buClr>
                <a:srgbClr val="53C79A"/>
              </a:buClr>
              <a:buSzPts val="9500"/>
              <a:buFont typeface="Lucida Sans"/>
              <a:buNone/>
            </a:pPr>
            <a:r>
              <a:rPr lang="en-IN" sz="9500">
                <a:solidFill>
                  <a:srgbClr val="53C79A"/>
                </a:solidFill>
                <a:latin typeface="Lucida Sans"/>
                <a:ea typeface="Lucida Sans"/>
                <a:cs typeface="Lucida Sans"/>
                <a:sym typeface="Lucida Sans"/>
              </a:rPr>
              <a:t>HOSPITAL ANALYSIS</a:t>
            </a:r>
            <a:endParaRPr sz="95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"/>
          <p:cNvSpPr/>
          <p:nvPr/>
        </p:nvSpPr>
        <p:spPr>
          <a:xfrm>
            <a:off x="2474691" y="305820"/>
            <a:ext cx="12706985" cy="1445895"/>
          </a:xfrm>
          <a:custGeom>
            <a:rect b="b" l="l" r="r" t="t"/>
            <a:pathLst>
              <a:path extrusionOk="0" h="1445895" w="12706985">
                <a:moveTo>
                  <a:pt x="12383326" y="1445758"/>
                </a:moveTo>
                <a:lnTo>
                  <a:pt x="323832" y="1445758"/>
                </a:lnTo>
                <a:lnTo>
                  <a:pt x="275978" y="1442247"/>
                </a:lnTo>
                <a:lnTo>
                  <a:pt x="230305" y="1432048"/>
                </a:lnTo>
                <a:lnTo>
                  <a:pt x="187312" y="1415660"/>
                </a:lnTo>
                <a:lnTo>
                  <a:pt x="147502" y="1393587"/>
                </a:lnTo>
                <a:lnTo>
                  <a:pt x="111374" y="1366328"/>
                </a:lnTo>
                <a:lnTo>
                  <a:pt x="79430" y="1334384"/>
                </a:lnTo>
                <a:lnTo>
                  <a:pt x="52171" y="1298256"/>
                </a:lnTo>
                <a:lnTo>
                  <a:pt x="30097" y="1258446"/>
                </a:lnTo>
                <a:lnTo>
                  <a:pt x="13710" y="1215453"/>
                </a:lnTo>
                <a:lnTo>
                  <a:pt x="3511" y="1169780"/>
                </a:lnTo>
                <a:lnTo>
                  <a:pt x="0" y="1121926"/>
                </a:lnTo>
                <a:lnTo>
                  <a:pt x="0" y="323831"/>
                </a:lnTo>
                <a:lnTo>
                  <a:pt x="3511" y="275978"/>
                </a:lnTo>
                <a:lnTo>
                  <a:pt x="13710" y="230305"/>
                </a:lnTo>
                <a:lnTo>
                  <a:pt x="30097" y="187312"/>
                </a:lnTo>
                <a:lnTo>
                  <a:pt x="52171" y="147502"/>
                </a:lnTo>
                <a:lnTo>
                  <a:pt x="79430" y="111374"/>
                </a:lnTo>
                <a:lnTo>
                  <a:pt x="111374" y="79430"/>
                </a:lnTo>
                <a:lnTo>
                  <a:pt x="147502" y="52171"/>
                </a:lnTo>
                <a:lnTo>
                  <a:pt x="187312" y="30097"/>
                </a:lnTo>
                <a:lnTo>
                  <a:pt x="230305" y="13710"/>
                </a:lnTo>
                <a:lnTo>
                  <a:pt x="275978" y="3511"/>
                </a:lnTo>
                <a:lnTo>
                  <a:pt x="323832" y="0"/>
                </a:lnTo>
                <a:lnTo>
                  <a:pt x="12383326" y="0"/>
                </a:lnTo>
                <a:lnTo>
                  <a:pt x="12431179" y="3511"/>
                </a:lnTo>
                <a:lnTo>
                  <a:pt x="12476852" y="13710"/>
                </a:lnTo>
                <a:lnTo>
                  <a:pt x="12519845" y="30097"/>
                </a:lnTo>
                <a:lnTo>
                  <a:pt x="12559655" y="52171"/>
                </a:lnTo>
                <a:lnTo>
                  <a:pt x="12595783" y="79430"/>
                </a:lnTo>
                <a:lnTo>
                  <a:pt x="12627727" y="111374"/>
                </a:lnTo>
                <a:lnTo>
                  <a:pt x="12654986" y="147502"/>
                </a:lnTo>
                <a:lnTo>
                  <a:pt x="12677060" y="187312"/>
                </a:lnTo>
                <a:lnTo>
                  <a:pt x="12693447" y="230305"/>
                </a:lnTo>
                <a:lnTo>
                  <a:pt x="12703647" y="275978"/>
                </a:lnTo>
                <a:lnTo>
                  <a:pt x="12706863" y="319813"/>
                </a:lnTo>
                <a:lnTo>
                  <a:pt x="12706863" y="1125944"/>
                </a:lnTo>
                <a:lnTo>
                  <a:pt x="12703647" y="1169780"/>
                </a:lnTo>
                <a:lnTo>
                  <a:pt x="12693447" y="1215453"/>
                </a:lnTo>
                <a:lnTo>
                  <a:pt x="12677060" y="1258446"/>
                </a:lnTo>
                <a:lnTo>
                  <a:pt x="12654986" y="1298256"/>
                </a:lnTo>
                <a:lnTo>
                  <a:pt x="12627727" y="1334384"/>
                </a:lnTo>
                <a:lnTo>
                  <a:pt x="12595783" y="1366328"/>
                </a:lnTo>
                <a:lnTo>
                  <a:pt x="12559655" y="1393587"/>
                </a:lnTo>
                <a:lnTo>
                  <a:pt x="12519845" y="1415660"/>
                </a:lnTo>
                <a:lnTo>
                  <a:pt x="12476852" y="1432048"/>
                </a:lnTo>
                <a:lnTo>
                  <a:pt x="12431179" y="1442247"/>
                </a:lnTo>
                <a:lnTo>
                  <a:pt x="12383326" y="1445758"/>
                </a:lnTo>
                <a:close/>
              </a:path>
            </a:pathLst>
          </a:custGeom>
          <a:solidFill>
            <a:srgbClr val="53C79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53" name="Google Shape;153;p2"/>
          <p:cNvSpPr txBox="1"/>
          <p:nvPr>
            <p:ph type="title"/>
          </p:nvPr>
        </p:nvSpPr>
        <p:spPr>
          <a:xfrm>
            <a:off x="2586550" y="556675"/>
            <a:ext cx="12594900" cy="9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Font typeface="Bookman Old Style"/>
              <a:buNone/>
            </a:pPr>
            <a:r>
              <a:rPr lang="en-IN" sz="6100"/>
              <a:t>PROBLEM </a:t>
            </a:r>
            <a:r>
              <a:rPr lang="en-IN" sz="6100"/>
              <a:t>STATEMENT</a:t>
            </a:r>
            <a:endParaRPr sz="6100"/>
          </a:p>
        </p:txBody>
      </p:sp>
      <p:pic>
        <p:nvPicPr>
          <p:cNvPr id="154" name="Google Shape;15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2549" y="5098763"/>
            <a:ext cx="152400" cy="15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2549" y="6641813"/>
            <a:ext cx="152400" cy="1523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6" name="Google Shape;156;p2"/>
          <p:cNvGrpSpPr/>
          <p:nvPr/>
        </p:nvGrpSpPr>
        <p:grpSpPr>
          <a:xfrm>
            <a:off x="0" y="8184863"/>
            <a:ext cx="3215005" cy="2102715"/>
            <a:chOff x="0" y="8184863"/>
            <a:chExt cx="3215005" cy="2102715"/>
          </a:xfrm>
        </p:grpSpPr>
        <p:sp>
          <p:nvSpPr>
            <p:cNvPr id="157" name="Google Shape;157;p2"/>
            <p:cNvSpPr/>
            <p:nvPr/>
          </p:nvSpPr>
          <p:spPr>
            <a:xfrm>
              <a:off x="0" y="8189538"/>
              <a:ext cx="3215005" cy="2098040"/>
            </a:xfrm>
            <a:custGeom>
              <a:rect b="b" l="l" r="r" t="t"/>
              <a:pathLst>
                <a:path extrusionOk="0" h="2098040" w="3215005">
                  <a:moveTo>
                    <a:pt x="3214508" y="2097461"/>
                  </a:moveTo>
                  <a:lnTo>
                    <a:pt x="0" y="2097461"/>
                  </a:lnTo>
                  <a:lnTo>
                    <a:pt x="0" y="0"/>
                  </a:lnTo>
                  <a:lnTo>
                    <a:pt x="24268" y="0"/>
                  </a:lnTo>
                  <a:lnTo>
                    <a:pt x="75923" y="12699"/>
                  </a:lnTo>
                  <a:lnTo>
                    <a:pt x="127350" y="12699"/>
                  </a:lnTo>
                  <a:lnTo>
                    <a:pt x="330695" y="63499"/>
                  </a:lnTo>
                  <a:lnTo>
                    <a:pt x="380920" y="63499"/>
                  </a:lnTo>
                  <a:lnTo>
                    <a:pt x="725200" y="152399"/>
                  </a:lnTo>
                  <a:lnTo>
                    <a:pt x="773292" y="177799"/>
                  </a:lnTo>
                  <a:lnTo>
                    <a:pt x="915845" y="215899"/>
                  </a:lnTo>
                  <a:lnTo>
                    <a:pt x="962774" y="241299"/>
                  </a:lnTo>
                  <a:lnTo>
                    <a:pt x="1055725" y="266699"/>
                  </a:lnTo>
                  <a:lnTo>
                    <a:pt x="1101740" y="292099"/>
                  </a:lnTo>
                  <a:lnTo>
                    <a:pt x="1192826" y="317499"/>
                  </a:lnTo>
                  <a:lnTo>
                    <a:pt x="1237889" y="342899"/>
                  </a:lnTo>
                  <a:lnTo>
                    <a:pt x="1282627" y="355599"/>
                  </a:lnTo>
                  <a:lnTo>
                    <a:pt x="1327036" y="380999"/>
                  </a:lnTo>
                  <a:lnTo>
                    <a:pt x="1371112" y="393699"/>
                  </a:lnTo>
                  <a:lnTo>
                    <a:pt x="1458249" y="444499"/>
                  </a:lnTo>
                  <a:lnTo>
                    <a:pt x="1501301" y="457199"/>
                  </a:lnTo>
                  <a:lnTo>
                    <a:pt x="1586354" y="507999"/>
                  </a:lnTo>
                  <a:lnTo>
                    <a:pt x="1628347" y="520699"/>
                  </a:lnTo>
                  <a:lnTo>
                    <a:pt x="1752140" y="596899"/>
                  </a:lnTo>
                  <a:lnTo>
                    <a:pt x="1872573" y="673099"/>
                  </a:lnTo>
                  <a:lnTo>
                    <a:pt x="1911951" y="685799"/>
                  </a:lnTo>
                  <a:lnTo>
                    <a:pt x="1950940" y="711199"/>
                  </a:lnTo>
                  <a:lnTo>
                    <a:pt x="2027732" y="761999"/>
                  </a:lnTo>
                  <a:lnTo>
                    <a:pt x="2065528" y="800099"/>
                  </a:lnTo>
                  <a:lnTo>
                    <a:pt x="2139898" y="850899"/>
                  </a:lnTo>
                  <a:lnTo>
                    <a:pt x="2212614" y="901699"/>
                  </a:lnTo>
                  <a:lnTo>
                    <a:pt x="2283641" y="952499"/>
                  </a:lnTo>
                  <a:lnTo>
                    <a:pt x="2318513" y="990599"/>
                  </a:lnTo>
                  <a:lnTo>
                    <a:pt x="2352950" y="1015999"/>
                  </a:lnTo>
                  <a:lnTo>
                    <a:pt x="2420506" y="1066799"/>
                  </a:lnTo>
                  <a:lnTo>
                    <a:pt x="2453617" y="1104899"/>
                  </a:lnTo>
                  <a:lnTo>
                    <a:pt x="2486278" y="1130299"/>
                  </a:lnTo>
                  <a:lnTo>
                    <a:pt x="2518485" y="1155699"/>
                  </a:lnTo>
                  <a:lnTo>
                    <a:pt x="2550234" y="1193799"/>
                  </a:lnTo>
                  <a:lnTo>
                    <a:pt x="2581520" y="1219199"/>
                  </a:lnTo>
                  <a:lnTo>
                    <a:pt x="2612341" y="1257299"/>
                  </a:lnTo>
                  <a:lnTo>
                    <a:pt x="2642691" y="1282699"/>
                  </a:lnTo>
                  <a:lnTo>
                    <a:pt x="2672567" y="1320799"/>
                  </a:lnTo>
                  <a:lnTo>
                    <a:pt x="2701964" y="1346199"/>
                  </a:lnTo>
                  <a:lnTo>
                    <a:pt x="2730880" y="1384299"/>
                  </a:lnTo>
                  <a:lnTo>
                    <a:pt x="2759308" y="1409699"/>
                  </a:lnTo>
                  <a:lnTo>
                    <a:pt x="2787247" y="1447799"/>
                  </a:lnTo>
                  <a:lnTo>
                    <a:pt x="2814691" y="1473199"/>
                  </a:lnTo>
                  <a:lnTo>
                    <a:pt x="2841637" y="1511299"/>
                  </a:lnTo>
                  <a:lnTo>
                    <a:pt x="2868080" y="1549399"/>
                  </a:lnTo>
                  <a:lnTo>
                    <a:pt x="2894016" y="1574799"/>
                  </a:lnTo>
                  <a:lnTo>
                    <a:pt x="2919442" y="1612899"/>
                  </a:lnTo>
                  <a:lnTo>
                    <a:pt x="2944354" y="1650999"/>
                  </a:lnTo>
                  <a:lnTo>
                    <a:pt x="2968747" y="1676399"/>
                  </a:lnTo>
                  <a:lnTo>
                    <a:pt x="2992617" y="1714499"/>
                  </a:lnTo>
                  <a:lnTo>
                    <a:pt x="3015960" y="1752599"/>
                  </a:lnTo>
                  <a:lnTo>
                    <a:pt x="3038773" y="1790699"/>
                  </a:lnTo>
                  <a:lnTo>
                    <a:pt x="3061051" y="1816099"/>
                  </a:lnTo>
                  <a:lnTo>
                    <a:pt x="3082790" y="1854199"/>
                  </a:lnTo>
                  <a:lnTo>
                    <a:pt x="3103986" y="1892299"/>
                  </a:lnTo>
                  <a:lnTo>
                    <a:pt x="3124636" y="1930399"/>
                  </a:lnTo>
                  <a:lnTo>
                    <a:pt x="3144735" y="1968499"/>
                  </a:lnTo>
                  <a:lnTo>
                    <a:pt x="3164278" y="2006599"/>
                  </a:lnTo>
                  <a:lnTo>
                    <a:pt x="3183263" y="2044699"/>
                  </a:lnTo>
                  <a:lnTo>
                    <a:pt x="3201685" y="2070099"/>
                  </a:lnTo>
                  <a:lnTo>
                    <a:pt x="3214508" y="2097461"/>
                  </a:lnTo>
                  <a:close/>
                </a:path>
              </a:pathLst>
            </a:custGeom>
            <a:solidFill>
              <a:srgbClr val="11253C">
                <a:alpha val="4196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pic>
          <p:nvPicPr>
            <p:cNvPr id="158" name="Google Shape;158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52549" y="8184863"/>
              <a:ext cx="152400" cy="1523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9" name="Google Shape;159;p2"/>
          <p:cNvSpPr txBox="1"/>
          <p:nvPr/>
        </p:nvSpPr>
        <p:spPr>
          <a:xfrm>
            <a:off x="1016000" y="2300001"/>
            <a:ext cx="15625444" cy="696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5080" rtl="0" algn="l">
              <a:lnSpc>
                <a:spcPct val="16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1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Columbia Asia Hospital aims to leverage data analytics to gain deeper insights into its operations and improve overall performance.</a:t>
            </a:r>
            <a:endParaRPr sz="315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295"/>
              </a:spcBef>
              <a:spcAft>
                <a:spcPts val="0"/>
              </a:spcAft>
              <a:buNone/>
            </a:pPr>
            <a:r>
              <a:rPr lang="en-IN" sz="31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key focus areas include:</a:t>
            </a:r>
            <a:endParaRPr sz="315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700405" marR="5080" rtl="0" algn="l">
              <a:lnSpc>
                <a:spcPct val="16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Revenue Analysis: </a:t>
            </a:r>
            <a:r>
              <a:rPr lang="en-IN" sz="31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Understanding how different departments contribute to the hospital’s total revenue.</a:t>
            </a:r>
            <a:endParaRPr sz="315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700405" marR="5080" rtl="0" algn="l">
              <a:lnSpc>
                <a:spcPct val="1607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IN" sz="3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Workforce Planning: </a:t>
            </a:r>
            <a:r>
              <a:rPr lang="en-IN" sz="31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Identifying departments that require additional staffing based on patient flow and service demand.</a:t>
            </a:r>
            <a:endParaRPr sz="315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700405" marR="5080" rtl="0" algn="l">
              <a:lnSpc>
                <a:spcPct val="16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1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Discount	Strategy:	</a:t>
            </a:r>
            <a:r>
              <a:rPr lang="en-IN" sz="31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Developing	effective	discount	policies	to	enhance patient satisfaction while maintaining profitability.</a:t>
            </a:r>
            <a:endParaRPr sz="315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"/>
          <p:cNvSpPr/>
          <p:nvPr/>
        </p:nvSpPr>
        <p:spPr>
          <a:xfrm>
            <a:off x="2918105" y="235991"/>
            <a:ext cx="12706350" cy="1804035"/>
          </a:xfrm>
          <a:custGeom>
            <a:rect b="b" l="l" r="r" t="t"/>
            <a:pathLst>
              <a:path extrusionOk="0" h="1804035" w="12706350">
                <a:moveTo>
                  <a:pt x="12383325" y="1804033"/>
                </a:moveTo>
                <a:lnTo>
                  <a:pt x="323831" y="1804033"/>
                </a:lnTo>
                <a:lnTo>
                  <a:pt x="275978" y="1800522"/>
                </a:lnTo>
                <a:lnTo>
                  <a:pt x="230304" y="1790323"/>
                </a:lnTo>
                <a:lnTo>
                  <a:pt x="187312" y="1773935"/>
                </a:lnTo>
                <a:lnTo>
                  <a:pt x="147502" y="1751862"/>
                </a:lnTo>
                <a:lnTo>
                  <a:pt x="111374" y="1724603"/>
                </a:lnTo>
                <a:lnTo>
                  <a:pt x="79430" y="1692659"/>
                </a:lnTo>
                <a:lnTo>
                  <a:pt x="52171" y="1656531"/>
                </a:lnTo>
                <a:lnTo>
                  <a:pt x="30097" y="1616721"/>
                </a:lnTo>
                <a:lnTo>
                  <a:pt x="13710" y="1573728"/>
                </a:lnTo>
                <a:lnTo>
                  <a:pt x="3511" y="1528055"/>
                </a:lnTo>
                <a:lnTo>
                  <a:pt x="0" y="1480201"/>
                </a:lnTo>
                <a:lnTo>
                  <a:pt x="0" y="323831"/>
                </a:lnTo>
                <a:lnTo>
                  <a:pt x="3511" y="275978"/>
                </a:lnTo>
                <a:lnTo>
                  <a:pt x="13710" y="230305"/>
                </a:lnTo>
                <a:lnTo>
                  <a:pt x="30097" y="187312"/>
                </a:lnTo>
                <a:lnTo>
                  <a:pt x="52171" y="147502"/>
                </a:lnTo>
                <a:lnTo>
                  <a:pt x="79430" y="111374"/>
                </a:lnTo>
                <a:lnTo>
                  <a:pt x="111374" y="79430"/>
                </a:lnTo>
                <a:lnTo>
                  <a:pt x="147502" y="52171"/>
                </a:lnTo>
                <a:lnTo>
                  <a:pt x="187312" y="30097"/>
                </a:lnTo>
                <a:lnTo>
                  <a:pt x="230304" y="13710"/>
                </a:lnTo>
                <a:lnTo>
                  <a:pt x="275978" y="3511"/>
                </a:lnTo>
                <a:lnTo>
                  <a:pt x="323831" y="0"/>
                </a:lnTo>
                <a:lnTo>
                  <a:pt x="12383325" y="0"/>
                </a:lnTo>
                <a:lnTo>
                  <a:pt x="12431179" y="3511"/>
                </a:lnTo>
                <a:lnTo>
                  <a:pt x="12476852" y="13710"/>
                </a:lnTo>
                <a:lnTo>
                  <a:pt x="12519844" y="30097"/>
                </a:lnTo>
                <a:lnTo>
                  <a:pt x="12559655" y="52171"/>
                </a:lnTo>
                <a:lnTo>
                  <a:pt x="12595783" y="79430"/>
                </a:lnTo>
                <a:lnTo>
                  <a:pt x="12627726" y="111374"/>
                </a:lnTo>
                <a:lnTo>
                  <a:pt x="12654986" y="147502"/>
                </a:lnTo>
                <a:lnTo>
                  <a:pt x="12677059" y="187312"/>
                </a:lnTo>
                <a:lnTo>
                  <a:pt x="12693447" y="230305"/>
                </a:lnTo>
                <a:lnTo>
                  <a:pt x="12703646" y="275978"/>
                </a:lnTo>
                <a:lnTo>
                  <a:pt x="12705751" y="304670"/>
                </a:lnTo>
                <a:lnTo>
                  <a:pt x="12705751" y="1499363"/>
                </a:lnTo>
                <a:lnTo>
                  <a:pt x="12693447" y="1573728"/>
                </a:lnTo>
                <a:lnTo>
                  <a:pt x="12677059" y="1616721"/>
                </a:lnTo>
                <a:lnTo>
                  <a:pt x="12654986" y="1656531"/>
                </a:lnTo>
                <a:lnTo>
                  <a:pt x="12627726" y="1692659"/>
                </a:lnTo>
                <a:lnTo>
                  <a:pt x="12595783" y="1724603"/>
                </a:lnTo>
                <a:lnTo>
                  <a:pt x="12559655" y="1751862"/>
                </a:lnTo>
                <a:lnTo>
                  <a:pt x="12519844" y="1773935"/>
                </a:lnTo>
                <a:lnTo>
                  <a:pt x="12476852" y="1790323"/>
                </a:lnTo>
                <a:lnTo>
                  <a:pt x="12431179" y="1800522"/>
                </a:lnTo>
                <a:lnTo>
                  <a:pt x="12383325" y="1804033"/>
                </a:lnTo>
                <a:close/>
              </a:path>
            </a:pathLst>
          </a:custGeom>
          <a:solidFill>
            <a:srgbClr val="53C79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65" name="Google Shape;165;p3"/>
          <p:cNvSpPr txBox="1"/>
          <p:nvPr>
            <p:ph type="title"/>
          </p:nvPr>
        </p:nvSpPr>
        <p:spPr>
          <a:xfrm>
            <a:off x="480882" y="289808"/>
            <a:ext cx="15530700" cy="12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298750">
            <a:spAutoFit/>
          </a:bodyPr>
          <a:lstStyle/>
          <a:p>
            <a:pPr indent="0" lvl="0" marL="255460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Font typeface="Bookman Old Style"/>
              <a:buNone/>
            </a:pPr>
            <a:r>
              <a:rPr lang="en-IN" sz="6100"/>
              <a:t>OBJECTIVE OF ANALYSIS</a:t>
            </a:r>
            <a:endParaRPr sz="6100"/>
          </a:p>
        </p:txBody>
      </p:sp>
      <p:sp>
        <p:nvSpPr>
          <p:cNvPr id="166" name="Google Shape;166;p3"/>
          <p:cNvSpPr/>
          <p:nvPr/>
        </p:nvSpPr>
        <p:spPr>
          <a:xfrm>
            <a:off x="0" y="8189538"/>
            <a:ext cx="3215005" cy="2098040"/>
          </a:xfrm>
          <a:custGeom>
            <a:rect b="b" l="l" r="r" t="t"/>
            <a:pathLst>
              <a:path extrusionOk="0" h="2098040" w="3215005">
                <a:moveTo>
                  <a:pt x="3214508" y="2097461"/>
                </a:moveTo>
                <a:lnTo>
                  <a:pt x="0" y="2097461"/>
                </a:lnTo>
                <a:lnTo>
                  <a:pt x="0" y="0"/>
                </a:lnTo>
                <a:lnTo>
                  <a:pt x="24268" y="0"/>
                </a:lnTo>
                <a:lnTo>
                  <a:pt x="75923" y="12699"/>
                </a:lnTo>
                <a:lnTo>
                  <a:pt x="127350" y="12699"/>
                </a:lnTo>
                <a:lnTo>
                  <a:pt x="330695" y="63499"/>
                </a:lnTo>
                <a:lnTo>
                  <a:pt x="380920" y="63499"/>
                </a:lnTo>
                <a:lnTo>
                  <a:pt x="725200" y="152399"/>
                </a:lnTo>
                <a:lnTo>
                  <a:pt x="773292" y="177799"/>
                </a:lnTo>
                <a:lnTo>
                  <a:pt x="915845" y="215899"/>
                </a:lnTo>
                <a:lnTo>
                  <a:pt x="962774" y="241299"/>
                </a:lnTo>
                <a:lnTo>
                  <a:pt x="1055725" y="266699"/>
                </a:lnTo>
                <a:lnTo>
                  <a:pt x="1101740" y="292099"/>
                </a:lnTo>
                <a:lnTo>
                  <a:pt x="1192826" y="317499"/>
                </a:lnTo>
                <a:lnTo>
                  <a:pt x="1237889" y="342899"/>
                </a:lnTo>
                <a:lnTo>
                  <a:pt x="1282627" y="355599"/>
                </a:lnTo>
                <a:lnTo>
                  <a:pt x="1327036" y="380999"/>
                </a:lnTo>
                <a:lnTo>
                  <a:pt x="1371112" y="393699"/>
                </a:lnTo>
                <a:lnTo>
                  <a:pt x="1458249" y="444499"/>
                </a:lnTo>
                <a:lnTo>
                  <a:pt x="1501301" y="457199"/>
                </a:lnTo>
                <a:lnTo>
                  <a:pt x="1586354" y="507999"/>
                </a:lnTo>
                <a:lnTo>
                  <a:pt x="1628347" y="520699"/>
                </a:lnTo>
                <a:lnTo>
                  <a:pt x="1752140" y="596899"/>
                </a:lnTo>
                <a:lnTo>
                  <a:pt x="1872573" y="673099"/>
                </a:lnTo>
                <a:lnTo>
                  <a:pt x="1911951" y="685799"/>
                </a:lnTo>
                <a:lnTo>
                  <a:pt x="1950940" y="711199"/>
                </a:lnTo>
                <a:lnTo>
                  <a:pt x="2027732" y="761999"/>
                </a:lnTo>
                <a:lnTo>
                  <a:pt x="2065528" y="800099"/>
                </a:lnTo>
                <a:lnTo>
                  <a:pt x="2139898" y="850899"/>
                </a:lnTo>
                <a:lnTo>
                  <a:pt x="2212614" y="901699"/>
                </a:lnTo>
                <a:lnTo>
                  <a:pt x="2283641" y="952499"/>
                </a:lnTo>
                <a:lnTo>
                  <a:pt x="2318513" y="990599"/>
                </a:lnTo>
                <a:lnTo>
                  <a:pt x="2352950" y="1015999"/>
                </a:lnTo>
                <a:lnTo>
                  <a:pt x="2420506" y="1066799"/>
                </a:lnTo>
                <a:lnTo>
                  <a:pt x="2453617" y="1104899"/>
                </a:lnTo>
                <a:lnTo>
                  <a:pt x="2486278" y="1130299"/>
                </a:lnTo>
                <a:lnTo>
                  <a:pt x="2518485" y="1155699"/>
                </a:lnTo>
                <a:lnTo>
                  <a:pt x="2550234" y="1193799"/>
                </a:lnTo>
                <a:lnTo>
                  <a:pt x="2581520" y="1219199"/>
                </a:lnTo>
                <a:lnTo>
                  <a:pt x="2612341" y="1257299"/>
                </a:lnTo>
                <a:lnTo>
                  <a:pt x="2642691" y="1282699"/>
                </a:lnTo>
                <a:lnTo>
                  <a:pt x="2672567" y="1320799"/>
                </a:lnTo>
                <a:lnTo>
                  <a:pt x="2701964" y="1346199"/>
                </a:lnTo>
                <a:lnTo>
                  <a:pt x="2730880" y="1384299"/>
                </a:lnTo>
                <a:lnTo>
                  <a:pt x="2759308" y="1409699"/>
                </a:lnTo>
                <a:lnTo>
                  <a:pt x="2787247" y="1447799"/>
                </a:lnTo>
                <a:lnTo>
                  <a:pt x="2814691" y="1473199"/>
                </a:lnTo>
                <a:lnTo>
                  <a:pt x="2841637" y="1511299"/>
                </a:lnTo>
                <a:lnTo>
                  <a:pt x="2868080" y="1549399"/>
                </a:lnTo>
                <a:lnTo>
                  <a:pt x="2894016" y="1574799"/>
                </a:lnTo>
                <a:lnTo>
                  <a:pt x="2919442" y="1612899"/>
                </a:lnTo>
                <a:lnTo>
                  <a:pt x="2944354" y="1650999"/>
                </a:lnTo>
                <a:lnTo>
                  <a:pt x="2968747" y="1676399"/>
                </a:lnTo>
                <a:lnTo>
                  <a:pt x="2992617" y="1714499"/>
                </a:lnTo>
                <a:lnTo>
                  <a:pt x="3015960" y="1752599"/>
                </a:lnTo>
                <a:lnTo>
                  <a:pt x="3038773" y="1790699"/>
                </a:lnTo>
                <a:lnTo>
                  <a:pt x="3061051" y="1816099"/>
                </a:lnTo>
                <a:lnTo>
                  <a:pt x="3082790" y="1854199"/>
                </a:lnTo>
                <a:lnTo>
                  <a:pt x="3103986" y="1892299"/>
                </a:lnTo>
                <a:lnTo>
                  <a:pt x="3124636" y="1930399"/>
                </a:lnTo>
                <a:lnTo>
                  <a:pt x="3144735" y="1968499"/>
                </a:lnTo>
                <a:lnTo>
                  <a:pt x="3164278" y="2006599"/>
                </a:lnTo>
                <a:lnTo>
                  <a:pt x="3183263" y="2044699"/>
                </a:lnTo>
                <a:lnTo>
                  <a:pt x="3201685" y="2070099"/>
                </a:lnTo>
                <a:lnTo>
                  <a:pt x="3214508" y="2097461"/>
                </a:lnTo>
                <a:close/>
              </a:path>
            </a:pathLst>
          </a:custGeom>
          <a:solidFill>
            <a:srgbClr val="11253C">
              <a:alpha val="4196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167" name="Google Shape;16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4106" y="4092835"/>
            <a:ext cx="180975" cy="18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4106" y="5007235"/>
            <a:ext cx="180975" cy="18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4106" y="6836035"/>
            <a:ext cx="180975" cy="180974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"/>
          <p:cNvSpPr txBox="1"/>
          <p:nvPr/>
        </p:nvSpPr>
        <p:spPr>
          <a:xfrm>
            <a:off x="480882" y="2623762"/>
            <a:ext cx="17139285" cy="5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54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7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goal of this analysis is to:</a:t>
            </a:r>
            <a:endParaRPr sz="375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829944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None/>
            </a:pPr>
            <a:r>
              <a:rPr lang="en-IN" sz="37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Analyze hospital data to uncover key business insights.</a:t>
            </a:r>
            <a:endParaRPr sz="375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829944" marR="253365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7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Provide data-backed recommendations to help management make informed, strategic decisions.</a:t>
            </a:r>
            <a:endParaRPr sz="375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829944" marR="508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7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Build visual dashboards that simplify complex information and support decision-making.</a:t>
            </a:r>
            <a:endParaRPr sz="375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"/>
          <p:cNvSpPr/>
          <p:nvPr/>
        </p:nvSpPr>
        <p:spPr>
          <a:xfrm>
            <a:off x="2918106" y="235991"/>
            <a:ext cx="12707620" cy="1574800"/>
          </a:xfrm>
          <a:custGeom>
            <a:rect b="b" l="l" r="r" t="t"/>
            <a:pathLst>
              <a:path extrusionOk="0" h="1574800" w="12707619">
                <a:moveTo>
                  <a:pt x="12383325" y="1574794"/>
                </a:moveTo>
                <a:lnTo>
                  <a:pt x="323831" y="1574794"/>
                </a:lnTo>
                <a:lnTo>
                  <a:pt x="275978" y="1571283"/>
                </a:lnTo>
                <a:lnTo>
                  <a:pt x="230304" y="1561083"/>
                </a:lnTo>
                <a:lnTo>
                  <a:pt x="187312" y="1544696"/>
                </a:lnTo>
                <a:lnTo>
                  <a:pt x="147501" y="1522623"/>
                </a:lnTo>
                <a:lnTo>
                  <a:pt x="111374" y="1495364"/>
                </a:lnTo>
                <a:lnTo>
                  <a:pt x="79430" y="1463420"/>
                </a:lnTo>
                <a:lnTo>
                  <a:pt x="52171" y="1427292"/>
                </a:lnTo>
                <a:lnTo>
                  <a:pt x="30097" y="1387482"/>
                </a:lnTo>
                <a:lnTo>
                  <a:pt x="13710" y="1344489"/>
                </a:lnTo>
                <a:lnTo>
                  <a:pt x="3511" y="1298816"/>
                </a:lnTo>
                <a:lnTo>
                  <a:pt x="0" y="1250962"/>
                </a:lnTo>
                <a:lnTo>
                  <a:pt x="0" y="323831"/>
                </a:lnTo>
                <a:lnTo>
                  <a:pt x="3511" y="275978"/>
                </a:lnTo>
                <a:lnTo>
                  <a:pt x="13710" y="230305"/>
                </a:lnTo>
                <a:lnTo>
                  <a:pt x="30097" y="187312"/>
                </a:lnTo>
                <a:lnTo>
                  <a:pt x="52171" y="147502"/>
                </a:lnTo>
                <a:lnTo>
                  <a:pt x="79430" y="111374"/>
                </a:lnTo>
                <a:lnTo>
                  <a:pt x="111374" y="79430"/>
                </a:lnTo>
                <a:lnTo>
                  <a:pt x="147501" y="52171"/>
                </a:lnTo>
                <a:lnTo>
                  <a:pt x="187312" y="30097"/>
                </a:lnTo>
                <a:lnTo>
                  <a:pt x="230304" y="13710"/>
                </a:lnTo>
                <a:lnTo>
                  <a:pt x="275978" y="3511"/>
                </a:lnTo>
                <a:lnTo>
                  <a:pt x="323831" y="0"/>
                </a:lnTo>
                <a:lnTo>
                  <a:pt x="12383325" y="0"/>
                </a:lnTo>
                <a:lnTo>
                  <a:pt x="12431178" y="3511"/>
                </a:lnTo>
                <a:lnTo>
                  <a:pt x="12476851" y="13710"/>
                </a:lnTo>
                <a:lnTo>
                  <a:pt x="12519843" y="30097"/>
                </a:lnTo>
                <a:lnTo>
                  <a:pt x="12559654" y="52171"/>
                </a:lnTo>
                <a:lnTo>
                  <a:pt x="12595781" y="79430"/>
                </a:lnTo>
                <a:lnTo>
                  <a:pt x="12627725" y="111374"/>
                </a:lnTo>
                <a:lnTo>
                  <a:pt x="12654984" y="147502"/>
                </a:lnTo>
                <a:lnTo>
                  <a:pt x="12677058" y="187312"/>
                </a:lnTo>
                <a:lnTo>
                  <a:pt x="12693445" y="230305"/>
                </a:lnTo>
                <a:lnTo>
                  <a:pt x="12703644" y="275978"/>
                </a:lnTo>
                <a:lnTo>
                  <a:pt x="12707155" y="323831"/>
                </a:lnTo>
                <a:lnTo>
                  <a:pt x="12707155" y="1250962"/>
                </a:lnTo>
                <a:lnTo>
                  <a:pt x="12703644" y="1298816"/>
                </a:lnTo>
                <a:lnTo>
                  <a:pt x="12693445" y="1344489"/>
                </a:lnTo>
                <a:lnTo>
                  <a:pt x="12677058" y="1387482"/>
                </a:lnTo>
                <a:lnTo>
                  <a:pt x="12654984" y="1427292"/>
                </a:lnTo>
                <a:lnTo>
                  <a:pt x="12627725" y="1463420"/>
                </a:lnTo>
                <a:lnTo>
                  <a:pt x="12595781" y="1495364"/>
                </a:lnTo>
                <a:lnTo>
                  <a:pt x="12559654" y="1522623"/>
                </a:lnTo>
                <a:lnTo>
                  <a:pt x="12519843" y="1544696"/>
                </a:lnTo>
                <a:lnTo>
                  <a:pt x="12476851" y="1561083"/>
                </a:lnTo>
                <a:lnTo>
                  <a:pt x="12431178" y="1571283"/>
                </a:lnTo>
                <a:lnTo>
                  <a:pt x="12383325" y="1574794"/>
                </a:lnTo>
                <a:close/>
              </a:path>
            </a:pathLst>
          </a:custGeom>
          <a:solidFill>
            <a:srgbClr val="53C79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76" name="Google Shape;176;p4"/>
          <p:cNvSpPr txBox="1"/>
          <p:nvPr>
            <p:ph type="title"/>
          </p:nvPr>
        </p:nvSpPr>
        <p:spPr>
          <a:xfrm>
            <a:off x="2979413" y="547450"/>
            <a:ext cx="12585000" cy="9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Font typeface="Bookman Old Style"/>
              <a:buNone/>
            </a:pPr>
            <a:r>
              <a:rPr lang="en-IN" sz="6100"/>
              <a:t>DATA OVERVIEW</a:t>
            </a:r>
            <a:endParaRPr sz="6100"/>
          </a:p>
        </p:txBody>
      </p:sp>
      <p:sp>
        <p:nvSpPr>
          <p:cNvPr id="177" name="Google Shape;177;p4"/>
          <p:cNvSpPr/>
          <p:nvPr/>
        </p:nvSpPr>
        <p:spPr>
          <a:xfrm>
            <a:off x="0" y="8189538"/>
            <a:ext cx="3215005" cy="2098040"/>
          </a:xfrm>
          <a:custGeom>
            <a:rect b="b" l="l" r="r" t="t"/>
            <a:pathLst>
              <a:path extrusionOk="0" h="2098040" w="3215005">
                <a:moveTo>
                  <a:pt x="3214508" y="2097461"/>
                </a:moveTo>
                <a:lnTo>
                  <a:pt x="0" y="2097461"/>
                </a:lnTo>
                <a:lnTo>
                  <a:pt x="0" y="0"/>
                </a:lnTo>
                <a:lnTo>
                  <a:pt x="24268" y="0"/>
                </a:lnTo>
                <a:lnTo>
                  <a:pt x="75923" y="12699"/>
                </a:lnTo>
                <a:lnTo>
                  <a:pt x="127350" y="12699"/>
                </a:lnTo>
                <a:lnTo>
                  <a:pt x="330695" y="63499"/>
                </a:lnTo>
                <a:lnTo>
                  <a:pt x="380920" y="63499"/>
                </a:lnTo>
                <a:lnTo>
                  <a:pt x="725200" y="152399"/>
                </a:lnTo>
                <a:lnTo>
                  <a:pt x="773292" y="177799"/>
                </a:lnTo>
                <a:lnTo>
                  <a:pt x="915845" y="215899"/>
                </a:lnTo>
                <a:lnTo>
                  <a:pt x="962774" y="241299"/>
                </a:lnTo>
                <a:lnTo>
                  <a:pt x="1055725" y="266699"/>
                </a:lnTo>
                <a:lnTo>
                  <a:pt x="1101740" y="292099"/>
                </a:lnTo>
                <a:lnTo>
                  <a:pt x="1192826" y="317499"/>
                </a:lnTo>
                <a:lnTo>
                  <a:pt x="1237889" y="342899"/>
                </a:lnTo>
                <a:lnTo>
                  <a:pt x="1282627" y="355599"/>
                </a:lnTo>
                <a:lnTo>
                  <a:pt x="1327036" y="380999"/>
                </a:lnTo>
                <a:lnTo>
                  <a:pt x="1371112" y="393699"/>
                </a:lnTo>
                <a:lnTo>
                  <a:pt x="1458249" y="444499"/>
                </a:lnTo>
                <a:lnTo>
                  <a:pt x="1501301" y="457199"/>
                </a:lnTo>
                <a:lnTo>
                  <a:pt x="1586354" y="507999"/>
                </a:lnTo>
                <a:lnTo>
                  <a:pt x="1628347" y="520699"/>
                </a:lnTo>
                <a:lnTo>
                  <a:pt x="1752140" y="596899"/>
                </a:lnTo>
                <a:lnTo>
                  <a:pt x="1872573" y="673099"/>
                </a:lnTo>
                <a:lnTo>
                  <a:pt x="1911951" y="685799"/>
                </a:lnTo>
                <a:lnTo>
                  <a:pt x="1950940" y="711199"/>
                </a:lnTo>
                <a:lnTo>
                  <a:pt x="2027732" y="761999"/>
                </a:lnTo>
                <a:lnTo>
                  <a:pt x="2065528" y="800099"/>
                </a:lnTo>
                <a:lnTo>
                  <a:pt x="2139898" y="850899"/>
                </a:lnTo>
                <a:lnTo>
                  <a:pt x="2212614" y="901699"/>
                </a:lnTo>
                <a:lnTo>
                  <a:pt x="2283641" y="952499"/>
                </a:lnTo>
                <a:lnTo>
                  <a:pt x="2318513" y="990599"/>
                </a:lnTo>
                <a:lnTo>
                  <a:pt x="2352950" y="1015999"/>
                </a:lnTo>
                <a:lnTo>
                  <a:pt x="2420506" y="1066799"/>
                </a:lnTo>
                <a:lnTo>
                  <a:pt x="2453617" y="1104899"/>
                </a:lnTo>
                <a:lnTo>
                  <a:pt x="2486278" y="1130299"/>
                </a:lnTo>
                <a:lnTo>
                  <a:pt x="2518485" y="1155699"/>
                </a:lnTo>
                <a:lnTo>
                  <a:pt x="2550234" y="1193799"/>
                </a:lnTo>
                <a:lnTo>
                  <a:pt x="2581520" y="1219199"/>
                </a:lnTo>
                <a:lnTo>
                  <a:pt x="2612341" y="1257299"/>
                </a:lnTo>
                <a:lnTo>
                  <a:pt x="2642691" y="1282699"/>
                </a:lnTo>
                <a:lnTo>
                  <a:pt x="2672567" y="1320799"/>
                </a:lnTo>
                <a:lnTo>
                  <a:pt x="2701964" y="1346199"/>
                </a:lnTo>
                <a:lnTo>
                  <a:pt x="2730880" y="1384299"/>
                </a:lnTo>
                <a:lnTo>
                  <a:pt x="2759308" y="1409699"/>
                </a:lnTo>
                <a:lnTo>
                  <a:pt x="2787247" y="1447799"/>
                </a:lnTo>
                <a:lnTo>
                  <a:pt x="2814691" y="1473199"/>
                </a:lnTo>
                <a:lnTo>
                  <a:pt x="2841637" y="1511299"/>
                </a:lnTo>
                <a:lnTo>
                  <a:pt x="2868080" y="1549399"/>
                </a:lnTo>
                <a:lnTo>
                  <a:pt x="2894016" y="1574799"/>
                </a:lnTo>
                <a:lnTo>
                  <a:pt x="2919442" y="1612899"/>
                </a:lnTo>
                <a:lnTo>
                  <a:pt x="2944354" y="1650999"/>
                </a:lnTo>
                <a:lnTo>
                  <a:pt x="2968747" y="1676399"/>
                </a:lnTo>
                <a:lnTo>
                  <a:pt x="2992617" y="1714499"/>
                </a:lnTo>
                <a:lnTo>
                  <a:pt x="3015960" y="1752599"/>
                </a:lnTo>
                <a:lnTo>
                  <a:pt x="3038773" y="1790699"/>
                </a:lnTo>
                <a:lnTo>
                  <a:pt x="3061051" y="1816099"/>
                </a:lnTo>
                <a:lnTo>
                  <a:pt x="3082790" y="1854199"/>
                </a:lnTo>
                <a:lnTo>
                  <a:pt x="3103986" y="1892299"/>
                </a:lnTo>
                <a:lnTo>
                  <a:pt x="3124636" y="1930399"/>
                </a:lnTo>
                <a:lnTo>
                  <a:pt x="3144735" y="1968499"/>
                </a:lnTo>
                <a:lnTo>
                  <a:pt x="3164278" y="2006599"/>
                </a:lnTo>
                <a:lnTo>
                  <a:pt x="3183263" y="2044699"/>
                </a:lnTo>
                <a:lnTo>
                  <a:pt x="3201685" y="2070099"/>
                </a:lnTo>
                <a:lnTo>
                  <a:pt x="3214508" y="2097461"/>
                </a:lnTo>
                <a:close/>
              </a:path>
            </a:pathLst>
          </a:custGeom>
          <a:solidFill>
            <a:srgbClr val="11253C">
              <a:alpha val="4196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178" name="Google Shape;17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9061" y="3163640"/>
            <a:ext cx="11896723" cy="6095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5730" y="3614513"/>
            <a:ext cx="113744" cy="113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5730" y="5491302"/>
            <a:ext cx="113744" cy="113744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4"/>
          <p:cNvSpPr txBox="1"/>
          <p:nvPr/>
        </p:nvSpPr>
        <p:spPr>
          <a:xfrm>
            <a:off x="137104" y="2289112"/>
            <a:ext cx="6820534" cy="72047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data includes two tables:</a:t>
            </a:r>
            <a:endParaRPr sz="3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65150" marR="1166495" rtl="0" algn="l">
              <a:lnSpc>
                <a:spcPct val="161000"/>
              </a:lnSpc>
              <a:spcBef>
                <a:spcPts val="2820"/>
              </a:spcBef>
              <a:spcAft>
                <a:spcPts val="0"/>
              </a:spcAft>
              <a:buNone/>
            </a:pPr>
            <a:r>
              <a:rPr lang="en-IN" sz="25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doctor_patients_data</a:t>
            </a:r>
            <a:r>
              <a:rPr lang="en-IN" sz="2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Details on doctors, patient visits, fees, and satisfaction scores.</a:t>
            </a:r>
            <a:endParaRPr sz="25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65150" marR="1977389" rtl="0" algn="l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5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hospital_er</a:t>
            </a:r>
            <a:r>
              <a:rPr lang="en-IN" sz="2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Information on patient demographics,</a:t>
            </a:r>
            <a:endParaRPr sz="25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50240" marR="0" rtl="0" algn="l">
              <a:lnSpc>
                <a:spcPct val="100000"/>
              </a:lnSpc>
              <a:spcBef>
                <a:spcPts val="1864"/>
              </a:spcBef>
              <a:spcAft>
                <a:spcPts val="0"/>
              </a:spcAft>
              <a:buNone/>
            </a:pPr>
            <a:r>
              <a:rPr lang="en-IN" sz="2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wait times, and referrals.</a:t>
            </a:r>
            <a:endParaRPr sz="25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995"/>
              </a:spcBef>
              <a:spcAft>
                <a:spcPts val="0"/>
              </a:spcAft>
              <a:buNone/>
            </a:pPr>
            <a:r>
              <a:t/>
            </a:r>
            <a:endParaRPr sz="25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127125" rtl="0" algn="l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Together, they provide a clear view of hospital performance and patient experience.</a:t>
            </a:r>
            <a:endParaRPr sz="25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"/>
          <p:cNvSpPr/>
          <p:nvPr/>
        </p:nvSpPr>
        <p:spPr>
          <a:xfrm>
            <a:off x="2861850" y="212649"/>
            <a:ext cx="11533505" cy="1100663"/>
          </a:xfrm>
          <a:custGeom>
            <a:rect b="b" l="l" r="r" t="t"/>
            <a:pathLst>
              <a:path extrusionOk="0" h="1589405" w="11533505">
                <a:moveTo>
                  <a:pt x="11211542" y="1589098"/>
                </a:moveTo>
                <a:lnTo>
                  <a:pt x="323832" y="1589098"/>
                </a:lnTo>
                <a:lnTo>
                  <a:pt x="272867" y="1585064"/>
                </a:lnTo>
                <a:lnTo>
                  <a:pt x="223617" y="1573202"/>
                </a:lnTo>
                <a:lnTo>
                  <a:pt x="176950" y="1553872"/>
                </a:lnTo>
                <a:lnTo>
                  <a:pt x="133737" y="1527434"/>
                </a:lnTo>
                <a:lnTo>
                  <a:pt x="94848" y="1494250"/>
                </a:lnTo>
                <a:lnTo>
                  <a:pt x="61663" y="1455360"/>
                </a:lnTo>
                <a:lnTo>
                  <a:pt x="35226" y="1412147"/>
                </a:lnTo>
                <a:lnTo>
                  <a:pt x="15896" y="1365480"/>
                </a:lnTo>
                <a:lnTo>
                  <a:pt x="4034" y="1316230"/>
                </a:lnTo>
                <a:lnTo>
                  <a:pt x="0" y="1265266"/>
                </a:lnTo>
                <a:lnTo>
                  <a:pt x="0" y="323831"/>
                </a:lnTo>
                <a:lnTo>
                  <a:pt x="4034" y="272867"/>
                </a:lnTo>
                <a:lnTo>
                  <a:pt x="15896" y="223617"/>
                </a:lnTo>
                <a:lnTo>
                  <a:pt x="35226" y="176950"/>
                </a:lnTo>
                <a:lnTo>
                  <a:pt x="61663" y="133737"/>
                </a:lnTo>
                <a:lnTo>
                  <a:pt x="94848" y="94848"/>
                </a:lnTo>
                <a:lnTo>
                  <a:pt x="133737" y="61663"/>
                </a:lnTo>
                <a:lnTo>
                  <a:pt x="176950" y="35226"/>
                </a:lnTo>
                <a:lnTo>
                  <a:pt x="223617" y="15896"/>
                </a:lnTo>
                <a:lnTo>
                  <a:pt x="272867" y="4034"/>
                </a:lnTo>
                <a:lnTo>
                  <a:pt x="323832" y="0"/>
                </a:lnTo>
                <a:lnTo>
                  <a:pt x="11211542" y="0"/>
                </a:lnTo>
                <a:lnTo>
                  <a:pt x="11262506" y="4034"/>
                </a:lnTo>
                <a:lnTo>
                  <a:pt x="11311757" y="15896"/>
                </a:lnTo>
                <a:lnTo>
                  <a:pt x="11358423" y="35226"/>
                </a:lnTo>
                <a:lnTo>
                  <a:pt x="11401635" y="61663"/>
                </a:lnTo>
                <a:lnTo>
                  <a:pt x="11440525" y="94848"/>
                </a:lnTo>
                <a:lnTo>
                  <a:pt x="11473710" y="133737"/>
                </a:lnTo>
                <a:lnTo>
                  <a:pt x="11500147" y="176950"/>
                </a:lnTo>
                <a:lnTo>
                  <a:pt x="11519478" y="223617"/>
                </a:lnTo>
                <a:lnTo>
                  <a:pt x="11531340" y="272867"/>
                </a:lnTo>
                <a:lnTo>
                  <a:pt x="11533377" y="298595"/>
                </a:lnTo>
                <a:lnTo>
                  <a:pt x="11533377" y="1290502"/>
                </a:lnTo>
                <a:lnTo>
                  <a:pt x="11519478" y="1365480"/>
                </a:lnTo>
                <a:lnTo>
                  <a:pt x="11500147" y="1412147"/>
                </a:lnTo>
                <a:lnTo>
                  <a:pt x="11473710" y="1455360"/>
                </a:lnTo>
                <a:lnTo>
                  <a:pt x="11440525" y="1494250"/>
                </a:lnTo>
                <a:lnTo>
                  <a:pt x="11401635" y="1527434"/>
                </a:lnTo>
                <a:lnTo>
                  <a:pt x="11358423" y="1553872"/>
                </a:lnTo>
                <a:lnTo>
                  <a:pt x="11311757" y="1573202"/>
                </a:lnTo>
                <a:lnTo>
                  <a:pt x="11262506" y="1585064"/>
                </a:lnTo>
                <a:lnTo>
                  <a:pt x="11211542" y="1589098"/>
                </a:lnTo>
                <a:close/>
              </a:path>
            </a:pathLst>
          </a:custGeom>
          <a:solidFill>
            <a:srgbClr val="53C79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87" name="Google Shape;187;p5"/>
          <p:cNvSpPr txBox="1"/>
          <p:nvPr>
            <p:ph type="title"/>
          </p:nvPr>
        </p:nvSpPr>
        <p:spPr>
          <a:xfrm>
            <a:off x="-818450" y="212172"/>
            <a:ext cx="15530700" cy="11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61100">
            <a:spAutoFit/>
          </a:bodyPr>
          <a:lstStyle/>
          <a:p>
            <a:pPr indent="0" lvl="0" marL="4113529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Font typeface="Bookman Old Style"/>
              <a:buNone/>
            </a:pPr>
            <a:r>
              <a:rPr lang="en-IN" sz="6100"/>
              <a:t>Database Schema</a:t>
            </a:r>
            <a:endParaRPr sz="6100"/>
          </a:p>
        </p:txBody>
      </p:sp>
      <p:sp>
        <p:nvSpPr>
          <p:cNvPr id="188" name="Google Shape;188;p5"/>
          <p:cNvSpPr/>
          <p:nvPr/>
        </p:nvSpPr>
        <p:spPr>
          <a:xfrm>
            <a:off x="0" y="8189538"/>
            <a:ext cx="3215005" cy="2098040"/>
          </a:xfrm>
          <a:custGeom>
            <a:rect b="b" l="l" r="r" t="t"/>
            <a:pathLst>
              <a:path extrusionOk="0" h="2098040" w="3215005">
                <a:moveTo>
                  <a:pt x="3214508" y="2097461"/>
                </a:moveTo>
                <a:lnTo>
                  <a:pt x="0" y="2097461"/>
                </a:lnTo>
                <a:lnTo>
                  <a:pt x="0" y="0"/>
                </a:lnTo>
                <a:lnTo>
                  <a:pt x="24268" y="0"/>
                </a:lnTo>
                <a:lnTo>
                  <a:pt x="75923" y="12699"/>
                </a:lnTo>
                <a:lnTo>
                  <a:pt x="127350" y="12699"/>
                </a:lnTo>
                <a:lnTo>
                  <a:pt x="330695" y="63499"/>
                </a:lnTo>
                <a:lnTo>
                  <a:pt x="380920" y="63499"/>
                </a:lnTo>
                <a:lnTo>
                  <a:pt x="725200" y="152399"/>
                </a:lnTo>
                <a:lnTo>
                  <a:pt x="773292" y="177799"/>
                </a:lnTo>
                <a:lnTo>
                  <a:pt x="915845" y="215899"/>
                </a:lnTo>
                <a:lnTo>
                  <a:pt x="962774" y="241299"/>
                </a:lnTo>
                <a:lnTo>
                  <a:pt x="1055725" y="266699"/>
                </a:lnTo>
                <a:lnTo>
                  <a:pt x="1101740" y="292099"/>
                </a:lnTo>
                <a:lnTo>
                  <a:pt x="1192826" y="317499"/>
                </a:lnTo>
                <a:lnTo>
                  <a:pt x="1237889" y="342899"/>
                </a:lnTo>
                <a:lnTo>
                  <a:pt x="1282627" y="355599"/>
                </a:lnTo>
                <a:lnTo>
                  <a:pt x="1327036" y="380999"/>
                </a:lnTo>
                <a:lnTo>
                  <a:pt x="1371112" y="393699"/>
                </a:lnTo>
                <a:lnTo>
                  <a:pt x="1458249" y="444499"/>
                </a:lnTo>
                <a:lnTo>
                  <a:pt x="1501301" y="457199"/>
                </a:lnTo>
                <a:lnTo>
                  <a:pt x="1586354" y="507999"/>
                </a:lnTo>
                <a:lnTo>
                  <a:pt x="1628347" y="520699"/>
                </a:lnTo>
                <a:lnTo>
                  <a:pt x="1752140" y="596899"/>
                </a:lnTo>
                <a:lnTo>
                  <a:pt x="1872573" y="673099"/>
                </a:lnTo>
                <a:lnTo>
                  <a:pt x="1911951" y="685799"/>
                </a:lnTo>
                <a:lnTo>
                  <a:pt x="1950940" y="711199"/>
                </a:lnTo>
                <a:lnTo>
                  <a:pt x="2027732" y="761999"/>
                </a:lnTo>
                <a:lnTo>
                  <a:pt x="2065528" y="800099"/>
                </a:lnTo>
                <a:lnTo>
                  <a:pt x="2139898" y="850899"/>
                </a:lnTo>
                <a:lnTo>
                  <a:pt x="2212614" y="901699"/>
                </a:lnTo>
                <a:lnTo>
                  <a:pt x="2283641" y="952499"/>
                </a:lnTo>
                <a:lnTo>
                  <a:pt x="2318513" y="990599"/>
                </a:lnTo>
                <a:lnTo>
                  <a:pt x="2352950" y="1015999"/>
                </a:lnTo>
                <a:lnTo>
                  <a:pt x="2420506" y="1066799"/>
                </a:lnTo>
                <a:lnTo>
                  <a:pt x="2453617" y="1104899"/>
                </a:lnTo>
                <a:lnTo>
                  <a:pt x="2486278" y="1130299"/>
                </a:lnTo>
                <a:lnTo>
                  <a:pt x="2518485" y="1155699"/>
                </a:lnTo>
                <a:lnTo>
                  <a:pt x="2550234" y="1193799"/>
                </a:lnTo>
                <a:lnTo>
                  <a:pt x="2581520" y="1219199"/>
                </a:lnTo>
                <a:lnTo>
                  <a:pt x="2612341" y="1257299"/>
                </a:lnTo>
                <a:lnTo>
                  <a:pt x="2642691" y="1282699"/>
                </a:lnTo>
                <a:lnTo>
                  <a:pt x="2672567" y="1320799"/>
                </a:lnTo>
                <a:lnTo>
                  <a:pt x="2701964" y="1346199"/>
                </a:lnTo>
                <a:lnTo>
                  <a:pt x="2730880" y="1384299"/>
                </a:lnTo>
                <a:lnTo>
                  <a:pt x="2759308" y="1409699"/>
                </a:lnTo>
                <a:lnTo>
                  <a:pt x="2787247" y="1447799"/>
                </a:lnTo>
                <a:lnTo>
                  <a:pt x="2814691" y="1473199"/>
                </a:lnTo>
                <a:lnTo>
                  <a:pt x="2841637" y="1511299"/>
                </a:lnTo>
                <a:lnTo>
                  <a:pt x="2868080" y="1549399"/>
                </a:lnTo>
                <a:lnTo>
                  <a:pt x="2894016" y="1574799"/>
                </a:lnTo>
                <a:lnTo>
                  <a:pt x="2919442" y="1612899"/>
                </a:lnTo>
                <a:lnTo>
                  <a:pt x="2944354" y="1650999"/>
                </a:lnTo>
                <a:lnTo>
                  <a:pt x="2968747" y="1676399"/>
                </a:lnTo>
                <a:lnTo>
                  <a:pt x="2992617" y="1714499"/>
                </a:lnTo>
                <a:lnTo>
                  <a:pt x="3015960" y="1752599"/>
                </a:lnTo>
                <a:lnTo>
                  <a:pt x="3038773" y="1790699"/>
                </a:lnTo>
                <a:lnTo>
                  <a:pt x="3061051" y="1816099"/>
                </a:lnTo>
                <a:lnTo>
                  <a:pt x="3082790" y="1854199"/>
                </a:lnTo>
                <a:lnTo>
                  <a:pt x="3103986" y="1892299"/>
                </a:lnTo>
                <a:lnTo>
                  <a:pt x="3124636" y="1930399"/>
                </a:lnTo>
                <a:lnTo>
                  <a:pt x="3144735" y="1968499"/>
                </a:lnTo>
                <a:lnTo>
                  <a:pt x="3164278" y="2006599"/>
                </a:lnTo>
                <a:lnTo>
                  <a:pt x="3183263" y="2044699"/>
                </a:lnTo>
                <a:lnTo>
                  <a:pt x="3201685" y="2070099"/>
                </a:lnTo>
                <a:lnTo>
                  <a:pt x="3214508" y="2097461"/>
                </a:lnTo>
                <a:close/>
              </a:path>
            </a:pathLst>
          </a:custGeom>
          <a:solidFill>
            <a:srgbClr val="11253C">
              <a:alpha val="4196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189" name="Google Shape;18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8250" y="1638800"/>
            <a:ext cx="16723773" cy="812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cb8ae8026_0_0"/>
          <p:cNvSpPr/>
          <p:nvPr/>
        </p:nvSpPr>
        <p:spPr>
          <a:xfrm>
            <a:off x="2861850" y="212649"/>
            <a:ext cx="11533505" cy="1100663"/>
          </a:xfrm>
          <a:custGeom>
            <a:rect b="b" l="l" r="r" t="t"/>
            <a:pathLst>
              <a:path extrusionOk="0" h="1589405" w="11533505">
                <a:moveTo>
                  <a:pt x="11211542" y="1589098"/>
                </a:moveTo>
                <a:lnTo>
                  <a:pt x="323832" y="1589098"/>
                </a:lnTo>
                <a:lnTo>
                  <a:pt x="272867" y="1585064"/>
                </a:lnTo>
                <a:lnTo>
                  <a:pt x="223617" y="1573202"/>
                </a:lnTo>
                <a:lnTo>
                  <a:pt x="176950" y="1553872"/>
                </a:lnTo>
                <a:lnTo>
                  <a:pt x="133737" y="1527434"/>
                </a:lnTo>
                <a:lnTo>
                  <a:pt x="94848" y="1494250"/>
                </a:lnTo>
                <a:lnTo>
                  <a:pt x="61663" y="1455360"/>
                </a:lnTo>
                <a:lnTo>
                  <a:pt x="35226" y="1412147"/>
                </a:lnTo>
                <a:lnTo>
                  <a:pt x="15896" y="1365480"/>
                </a:lnTo>
                <a:lnTo>
                  <a:pt x="4034" y="1316230"/>
                </a:lnTo>
                <a:lnTo>
                  <a:pt x="0" y="1265266"/>
                </a:lnTo>
                <a:lnTo>
                  <a:pt x="0" y="323831"/>
                </a:lnTo>
                <a:lnTo>
                  <a:pt x="4034" y="272867"/>
                </a:lnTo>
                <a:lnTo>
                  <a:pt x="15896" y="223617"/>
                </a:lnTo>
                <a:lnTo>
                  <a:pt x="35226" y="176950"/>
                </a:lnTo>
                <a:lnTo>
                  <a:pt x="61663" y="133737"/>
                </a:lnTo>
                <a:lnTo>
                  <a:pt x="94848" y="94848"/>
                </a:lnTo>
                <a:lnTo>
                  <a:pt x="133737" y="61663"/>
                </a:lnTo>
                <a:lnTo>
                  <a:pt x="176950" y="35226"/>
                </a:lnTo>
                <a:lnTo>
                  <a:pt x="223617" y="15896"/>
                </a:lnTo>
                <a:lnTo>
                  <a:pt x="272867" y="4034"/>
                </a:lnTo>
                <a:lnTo>
                  <a:pt x="323832" y="0"/>
                </a:lnTo>
                <a:lnTo>
                  <a:pt x="11211542" y="0"/>
                </a:lnTo>
                <a:lnTo>
                  <a:pt x="11262506" y="4034"/>
                </a:lnTo>
                <a:lnTo>
                  <a:pt x="11311757" y="15896"/>
                </a:lnTo>
                <a:lnTo>
                  <a:pt x="11358423" y="35226"/>
                </a:lnTo>
                <a:lnTo>
                  <a:pt x="11401635" y="61663"/>
                </a:lnTo>
                <a:lnTo>
                  <a:pt x="11440525" y="94848"/>
                </a:lnTo>
                <a:lnTo>
                  <a:pt x="11473710" y="133737"/>
                </a:lnTo>
                <a:lnTo>
                  <a:pt x="11500147" y="176950"/>
                </a:lnTo>
                <a:lnTo>
                  <a:pt x="11519478" y="223617"/>
                </a:lnTo>
                <a:lnTo>
                  <a:pt x="11531340" y="272867"/>
                </a:lnTo>
                <a:lnTo>
                  <a:pt x="11533377" y="298595"/>
                </a:lnTo>
                <a:lnTo>
                  <a:pt x="11533377" y="1290502"/>
                </a:lnTo>
                <a:lnTo>
                  <a:pt x="11519478" y="1365480"/>
                </a:lnTo>
                <a:lnTo>
                  <a:pt x="11500147" y="1412147"/>
                </a:lnTo>
                <a:lnTo>
                  <a:pt x="11473710" y="1455360"/>
                </a:lnTo>
                <a:lnTo>
                  <a:pt x="11440525" y="1494250"/>
                </a:lnTo>
                <a:lnTo>
                  <a:pt x="11401635" y="1527434"/>
                </a:lnTo>
                <a:lnTo>
                  <a:pt x="11358423" y="1553872"/>
                </a:lnTo>
                <a:lnTo>
                  <a:pt x="11311757" y="1573202"/>
                </a:lnTo>
                <a:lnTo>
                  <a:pt x="11262506" y="1585064"/>
                </a:lnTo>
                <a:lnTo>
                  <a:pt x="11211542" y="1589098"/>
                </a:lnTo>
                <a:close/>
              </a:path>
            </a:pathLst>
          </a:custGeom>
          <a:solidFill>
            <a:srgbClr val="53C79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95" name="Google Shape;195;g3bcb8ae8026_0_0"/>
          <p:cNvSpPr txBox="1"/>
          <p:nvPr>
            <p:ph type="title"/>
          </p:nvPr>
        </p:nvSpPr>
        <p:spPr>
          <a:xfrm>
            <a:off x="-818450" y="212172"/>
            <a:ext cx="15530700" cy="11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61100">
            <a:spAutoFit/>
          </a:bodyPr>
          <a:lstStyle/>
          <a:p>
            <a:pPr indent="0" lvl="0" marL="411352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Font typeface="Bookman Old Style"/>
              <a:buNone/>
            </a:pPr>
            <a:r>
              <a:rPr lang="en-IN" sz="6100"/>
              <a:t>METHODOLOGY</a:t>
            </a:r>
            <a:endParaRPr sz="6100"/>
          </a:p>
        </p:txBody>
      </p:sp>
      <p:sp>
        <p:nvSpPr>
          <p:cNvPr id="196" name="Google Shape;196;g3bcb8ae8026_0_0"/>
          <p:cNvSpPr/>
          <p:nvPr/>
        </p:nvSpPr>
        <p:spPr>
          <a:xfrm>
            <a:off x="0" y="8189538"/>
            <a:ext cx="3215005" cy="2098040"/>
          </a:xfrm>
          <a:custGeom>
            <a:rect b="b" l="l" r="r" t="t"/>
            <a:pathLst>
              <a:path extrusionOk="0" h="2098040" w="3215005">
                <a:moveTo>
                  <a:pt x="3214508" y="2097461"/>
                </a:moveTo>
                <a:lnTo>
                  <a:pt x="0" y="2097461"/>
                </a:lnTo>
                <a:lnTo>
                  <a:pt x="0" y="0"/>
                </a:lnTo>
                <a:lnTo>
                  <a:pt x="24268" y="0"/>
                </a:lnTo>
                <a:lnTo>
                  <a:pt x="75923" y="12699"/>
                </a:lnTo>
                <a:lnTo>
                  <a:pt x="127350" y="12699"/>
                </a:lnTo>
                <a:lnTo>
                  <a:pt x="330695" y="63499"/>
                </a:lnTo>
                <a:lnTo>
                  <a:pt x="380920" y="63499"/>
                </a:lnTo>
                <a:lnTo>
                  <a:pt x="725200" y="152399"/>
                </a:lnTo>
                <a:lnTo>
                  <a:pt x="773292" y="177799"/>
                </a:lnTo>
                <a:lnTo>
                  <a:pt x="915845" y="215899"/>
                </a:lnTo>
                <a:lnTo>
                  <a:pt x="962774" y="241299"/>
                </a:lnTo>
                <a:lnTo>
                  <a:pt x="1055725" y="266699"/>
                </a:lnTo>
                <a:lnTo>
                  <a:pt x="1101740" y="292099"/>
                </a:lnTo>
                <a:lnTo>
                  <a:pt x="1192826" y="317499"/>
                </a:lnTo>
                <a:lnTo>
                  <a:pt x="1237889" y="342899"/>
                </a:lnTo>
                <a:lnTo>
                  <a:pt x="1282627" y="355599"/>
                </a:lnTo>
                <a:lnTo>
                  <a:pt x="1327036" y="380999"/>
                </a:lnTo>
                <a:lnTo>
                  <a:pt x="1371112" y="393699"/>
                </a:lnTo>
                <a:lnTo>
                  <a:pt x="1458249" y="444499"/>
                </a:lnTo>
                <a:lnTo>
                  <a:pt x="1501301" y="457199"/>
                </a:lnTo>
                <a:lnTo>
                  <a:pt x="1586354" y="507999"/>
                </a:lnTo>
                <a:lnTo>
                  <a:pt x="1628347" y="520699"/>
                </a:lnTo>
                <a:lnTo>
                  <a:pt x="1752140" y="596899"/>
                </a:lnTo>
                <a:lnTo>
                  <a:pt x="1872573" y="673099"/>
                </a:lnTo>
                <a:lnTo>
                  <a:pt x="1911951" y="685799"/>
                </a:lnTo>
                <a:lnTo>
                  <a:pt x="1950940" y="711199"/>
                </a:lnTo>
                <a:lnTo>
                  <a:pt x="2027732" y="761999"/>
                </a:lnTo>
                <a:lnTo>
                  <a:pt x="2065528" y="800099"/>
                </a:lnTo>
                <a:lnTo>
                  <a:pt x="2139898" y="850899"/>
                </a:lnTo>
                <a:lnTo>
                  <a:pt x="2212614" y="901699"/>
                </a:lnTo>
                <a:lnTo>
                  <a:pt x="2283641" y="952499"/>
                </a:lnTo>
                <a:lnTo>
                  <a:pt x="2318513" y="990599"/>
                </a:lnTo>
                <a:lnTo>
                  <a:pt x="2352950" y="1015999"/>
                </a:lnTo>
                <a:lnTo>
                  <a:pt x="2420506" y="1066799"/>
                </a:lnTo>
                <a:lnTo>
                  <a:pt x="2453617" y="1104899"/>
                </a:lnTo>
                <a:lnTo>
                  <a:pt x="2486278" y="1130299"/>
                </a:lnTo>
                <a:lnTo>
                  <a:pt x="2518485" y="1155699"/>
                </a:lnTo>
                <a:lnTo>
                  <a:pt x="2550234" y="1193799"/>
                </a:lnTo>
                <a:lnTo>
                  <a:pt x="2581520" y="1219199"/>
                </a:lnTo>
                <a:lnTo>
                  <a:pt x="2612341" y="1257299"/>
                </a:lnTo>
                <a:lnTo>
                  <a:pt x="2642691" y="1282699"/>
                </a:lnTo>
                <a:lnTo>
                  <a:pt x="2672567" y="1320799"/>
                </a:lnTo>
                <a:lnTo>
                  <a:pt x="2701964" y="1346199"/>
                </a:lnTo>
                <a:lnTo>
                  <a:pt x="2730880" y="1384299"/>
                </a:lnTo>
                <a:lnTo>
                  <a:pt x="2759308" y="1409699"/>
                </a:lnTo>
                <a:lnTo>
                  <a:pt x="2787247" y="1447799"/>
                </a:lnTo>
                <a:lnTo>
                  <a:pt x="2814691" y="1473199"/>
                </a:lnTo>
                <a:lnTo>
                  <a:pt x="2841637" y="1511299"/>
                </a:lnTo>
                <a:lnTo>
                  <a:pt x="2868080" y="1549399"/>
                </a:lnTo>
                <a:lnTo>
                  <a:pt x="2894016" y="1574799"/>
                </a:lnTo>
                <a:lnTo>
                  <a:pt x="2919442" y="1612899"/>
                </a:lnTo>
                <a:lnTo>
                  <a:pt x="2944354" y="1650999"/>
                </a:lnTo>
                <a:lnTo>
                  <a:pt x="2968747" y="1676399"/>
                </a:lnTo>
                <a:lnTo>
                  <a:pt x="2992617" y="1714499"/>
                </a:lnTo>
                <a:lnTo>
                  <a:pt x="3015960" y="1752599"/>
                </a:lnTo>
                <a:lnTo>
                  <a:pt x="3038773" y="1790699"/>
                </a:lnTo>
                <a:lnTo>
                  <a:pt x="3061051" y="1816099"/>
                </a:lnTo>
                <a:lnTo>
                  <a:pt x="3082790" y="1854199"/>
                </a:lnTo>
                <a:lnTo>
                  <a:pt x="3103986" y="1892299"/>
                </a:lnTo>
                <a:lnTo>
                  <a:pt x="3124636" y="1930399"/>
                </a:lnTo>
                <a:lnTo>
                  <a:pt x="3144735" y="1968499"/>
                </a:lnTo>
                <a:lnTo>
                  <a:pt x="3164278" y="2006599"/>
                </a:lnTo>
                <a:lnTo>
                  <a:pt x="3183263" y="2044699"/>
                </a:lnTo>
                <a:lnTo>
                  <a:pt x="3201685" y="2070099"/>
                </a:lnTo>
                <a:lnTo>
                  <a:pt x="3214508" y="2097461"/>
                </a:lnTo>
                <a:close/>
              </a:path>
            </a:pathLst>
          </a:custGeom>
          <a:solidFill>
            <a:srgbClr val="11253C">
              <a:alpha val="4196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97" name="Google Shape;197;g3bcb8ae8026_0_0"/>
          <p:cNvSpPr/>
          <p:nvPr/>
        </p:nvSpPr>
        <p:spPr>
          <a:xfrm>
            <a:off x="1028699" y="2137462"/>
            <a:ext cx="7708265" cy="1480820"/>
          </a:xfrm>
          <a:custGeom>
            <a:rect b="b" l="l" r="r" t="t"/>
            <a:pathLst>
              <a:path extrusionOk="0" h="1480820" w="7708265">
                <a:moveTo>
                  <a:pt x="7443426" y="1480272"/>
                </a:moveTo>
                <a:lnTo>
                  <a:pt x="266685" y="1480272"/>
                </a:lnTo>
                <a:lnTo>
                  <a:pt x="214414" y="1475101"/>
                </a:lnTo>
                <a:lnTo>
                  <a:pt x="164629" y="1459972"/>
                </a:lnTo>
                <a:lnTo>
                  <a:pt x="118728" y="1435466"/>
                </a:lnTo>
                <a:lnTo>
                  <a:pt x="78110" y="1402162"/>
                </a:lnTo>
                <a:lnTo>
                  <a:pt x="44806" y="1361544"/>
                </a:lnTo>
                <a:lnTo>
                  <a:pt x="20300" y="1315643"/>
                </a:lnTo>
                <a:lnTo>
                  <a:pt x="5171" y="1265858"/>
                </a:lnTo>
                <a:lnTo>
                  <a:pt x="0" y="1213587"/>
                </a:lnTo>
                <a:lnTo>
                  <a:pt x="0" y="266685"/>
                </a:lnTo>
                <a:lnTo>
                  <a:pt x="5171" y="214414"/>
                </a:lnTo>
                <a:lnTo>
                  <a:pt x="20300" y="164629"/>
                </a:lnTo>
                <a:lnTo>
                  <a:pt x="44806" y="118728"/>
                </a:lnTo>
                <a:lnTo>
                  <a:pt x="78110" y="78110"/>
                </a:lnTo>
                <a:lnTo>
                  <a:pt x="118728" y="44806"/>
                </a:lnTo>
                <a:lnTo>
                  <a:pt x="164629" y="20300"/>
                </a:lnTo>
                <a:lnTo>
                  <a:pt x="214414" y="5171"/>
                </a:lnTo>
                <a:lnTo>
                  <a:pt x="266685" y="0"/>
                </a:lnTo>
                <a:lnTo>
                  <a:pt x="7443426" y="0"/>
                </a:lnTo>
                <a:lnTo>
                  <a:pt x="7495697" y="5171"/>
                </a:lnTo>
                <a:lnTo>
                  <a:pt x="7545482" y="20300"/>
                </a:lnTo>
                <a:lnTo>
                  <a:pt x="7591383" y="44806"/>
                </a:lnTo>
                <a:lnTo>
                  <a:pt x="7632002" y="78110"/>
                </a:lnTo>
                <a:lnTo>
                  <a:pt x="7665305" y="118728"/>
                </a:lnTo>
                <a:lnTo>
                  <a:pt x="7689811" y="164629"/>
                </a:lnTo>
                <a:lnTo>
                  <a:pt x="7704940" y="214414"/>
                </a:lnTo>
                <a:lnTo>
                  <a:pt x="7707826" y="243583"/>
                </a:lnTo>
                <a:lnTo>
                  <a:pt x="7707826" y="1236688"/>
                </a:lnTo>
                <a:lnTo>
                  <a:pt x="7689811" y="1315643"/>
                </a:lnTo>
                <a:lnTo>
                  <a:pt x="7665305" y="1361544"/>
                </a:lnTo>
                <a:lnTo>
                  <a:pt x="7632002" y="1402162"/>
                </a:lnTo>
                <a:lnTo>
                  <a:pt x="7591383" y="1435466"/>
                </a:lnTo>
                <a:lnTo>
                  <a:pt x="7545482" y="1459972"/>
                </a:lnTo>
                <a:lnTo>
                  <a:pt x="7495697" y="1475101"/>
                </a:lnTo>
                <a:lnTo>
                  <a:pt x="7443426" y="1480272"/>
                </a:lnTo>
                <a:close/>
              </a:path>
            </a:pathLst>
          </a:custGeom>
          <a:solidFill>
            <a:srgbClr val="8FD1D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98" name="Google Shape;198;g3bcb8ae8026_0_0"/>
          <p:cNvSpPr/>
          <p:nvPr/>
        </p:nvSpPr>
        <p:spPr>
          <a:xfrm>
            <a:off x="2584595" y="4074934"/>
            <a:ext cx="9276080" cy="1865629"/>
          </a:xfrm>
          <a:custGeom>
            <a:rect b="b" l="l" r="r" t="t"/>
            <a:pathLst>
              <a:path extrusionOk="0" h="1865629" w="9276080">
                <a:moveTo>
                  <a:pt x="8884976" y="1865594"/>
                </a:moveTo>
                <a:lnTo>
                  <a:pt x="390503" y="1865594"/>
                </a:lnTo>
                <a:lnTo>
                  <a:pt x="341519" y="1862551"/>
                </a:lnTo>
                <a:lnTo>
                  <a:pt x="294351" y="1853667"/>
                </a:lnTo>
                <a:lnTo>
                  <a:pt x="249364" y="1839308"/>
                </a:lnTo>
                <a:lnTo>
                  <a:pt x="206925" y="1819840"/>
                </a:lnTo>
                <a:lnTo>
                  <a:pt x="167400" y="1795628"/>
                </a:lnTo>
                <a:lnTo>
                  <a:pt x="131154" y="1767039"/>
                </a:lnTo>
                <a:lnTo>
                  <a:pt x="98554" y="1734439"/>
                </a:lnTo>
                <a:lnTo>
                  <a:pt x="69965" y="1698193"/>
                </a:lnTo>
                <a:lnTo>
                  <a:pt x="45753" y="1658668"/>
                </a:lnTo>
                <a:lnTo>
                  <a:pt x="26285" y="1616229"/>
                </a:lnTo>
                <a:lnTo>
                  <a:pt x="11926" y="1571243"/>
                </a:lnTo>
                <a:lnTo>
                  <a:pt x="3042" y="1524074"/>
                </a:lnTo>
                <a:lnTo>
                  <a:pt x="0" y="1475091"/>
                </a:lnTo>
                <a:lnTo>
                  <a:pt x="0" y="390503"/>
                </a:lnTo>
                <a:lnTo>
                  <a:pt x="3042" y="341519"/>
                </a:lnTo>
                <a:lnTo>
                  <a:pt x="11926" y="294351"/>
                </a:lnTo>
                <a:lnTo>
                  <a:pt x="26285" y="249364"/>
                </a:lnTo>
                <a:lnTo>
                  <a:pt x="45753" y="206925"/>
                </a:lnTo>
                <a:lnTo>
                  <a:pt x="69965" y="167400"/>
                </a:lnTo>
                <a:lnTo>
                  <a:pt x="98554" y="131154"/>
                </a:lnTo>
                <a:lnTo>
                  <a:pt x="131154" y="98554"/>
                </a:lnTo>
                <a:lnTo>
                  <a:pt x="167400" y="69965"/>
                </a:lnTo>
                <a:lnTo>
                  <a:pt x="206925" y="45753"/>
                </a:lnTo>
                <a:lnTo>
                  <a:pt x="249364" y="26285"/>
                </a:lnTo>
                <a:lnTo>
                  <a:pt x="294351" y="11926"/>
                </a:lnTo>
                <a:lnTo>
                  <a:pt x="341519" y="3042"/>
                </a:lnTo>
                <a:lnTo>
                  <a:pt x="390503" y="0"/>
                </a:lnTo>
                <a:lnTo>
                  <a:pt x="8884976" y="0"/>
                </a:lnTo>
                <a:lnTo>
                  <a:pt x="8933960" y="3042"/>
                </a:lnTo>
                <a:lnTo>
                  <a:pt x="8981129" y="11926"/>
                </a:lnTo>
                <a:lnTo>
                  <a:pt x="9026115" y="26285"/>
                </a:lnTo>
                <a:lnTo>
                  <a:pt x="9068554" y="45753"/>
                </a:lnTo>
                <a:lnTo>
                  <a:pt x="9108079" y="69965"/>
                </a:lnTo>
                <a:lnTo>
                  <a:pt x="9144325" y="98554"/>
                </a:lnTo>
                <a:lnTo>
                  <a:pt x="9176926" y="131154"/>
                </a:lnTo>
                <a:lnTo>
                  <a:pt x="9205515" y="167400"/>
                </a:lnTo>
                <a:lnTo>
                  <a:pt x="9229726" y="206925"/>
                </a:lnTo>
                <a:lnTo>
                  <a:pt x="9249194" y="249364"/>
                </a:lnTo>
                <a:lnTo>
                  <a:pt x="9263553" y="294351"/>
                </a:lnTo>
                <a:lnTo>
                  <a:pt x="9272437" y="341519"/>
                </a:lnTo>
                <a:lnTo>
                  <a:pt x="9275480" y="390503"/>
                </a:lnTo>
                <a:lnTo>
                  <a:pt x="9275480" y="1475091"/>
                </a:lnTo>
                <a:lnTo>
                  <a:pt x="9272437" y="1524074"/>
                </a:lnTo>
                <a:lnTo>
                  <a:pt x="9263553" y="1571243"/>
                </a:lnTo>
                <a:lnTo>
                  <a:pt x="9249194" y="1616229"/>
                </a:lnTo>
                <a:lnTo>
                  <a:pt x="9229726" y="1658668"/>
                </a:lnTo>
                <a:lnTo>
                  <a:pt x="9205515" y="1698193"/>
                </a:lnTo>
                <a:lnTo>
                  <a:pt x="9176926" y="1734439"/>
                </a:lnTo>
                <a:lnTo>
                  <a:pt x="9144325" y="1767039"/>
                </a:lnTo>
                <a:lnTo>
                  <a:pt x="9108079" y="1795628"/>
                </a:lnTo>
                <a:lnTo>
                  <a:pt x="9068554" y="1819840"/>
                </a:lnTo>
                <a:lnTo>
                  <a:pt x="9026115" y="1839308"/>
                </a:lnTo>
                <a:lnTo>
                  <a:pt x="8981129" y="1853667"/>
                </a:lnTo>
                <a:lnTo>
                  <a:pt x="8933960" y="1862551"/>
                </a:lnTo>
                <a:lnTo>
                  <a:pt x="8884976" y="1865594"/>
                </a:lnTo>
                <a:close/>
              </a:path>
            </a:pathLst>
          </a:custGeom>
          <a:solidFill>
            <a:srgbClr val="8FD1D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99" name="Google Shape;199;g3bcb8ae8026_0_0"/>
          <p:cNvSpPr/>
          <p:nvPr/>
        </p:nvSpPr>
        <p:spPr>
          <a:xfrm>
            <a:off x="5794858" y="6397728"/>
            <a:ext cx="7966709" cy="1265554"/>
          </a:xfrm>
          <a:custGeom>
            <a:rect b="b" l="l" r="r" t="t"/>
            <a:pathLst>
              <a:path extrusionOk="0" h="1265554" w="7966709">
                <a:moveTo>
                  <a:pt x="7577461" y="1265152"/>
                </a:moveTo>
                <a:lnTo>
                  <a:pt x="390503" y="1265152"/>
                </a:lnTo>
                <a:lnTo>
                  <a:pt x="341519" y="1262109"/>
                </a:lnTo>
                <a:lnTo>
                  <a:pt x="294351" y="1253226"/>
                </a:lnTo>
                <a:lnTo>
                  <a:pt x="249364" y="1238867"/>
                </a:lnTo>
                <a:lnTo>
                  <a:pt x="206925" y="1219398"/>
                </a:lnTo>
                <a:lnTo>
                  <a:pt x="167400" y="1195187"/>
                </a:lnTo>
                <a:lnTo>
                  <a:pt x="131154" y="1166598"/>
                </a:lnTo>
                <a:lnTo>
                  <a:pt x="98554" y="1133998"/>
                </a:lnTo>
                <a:lnTo>
                  <a:pt x="69965" y="1097752"/>
                </a:lnTo>
                <a:lnTo>
                  <a:pt x="45753" y="1058227"/>
                </a:lnTo>
                <a:lnTo>
                  <a:pt x="26285" y="1015788"/>
                </a:lnTo>
                <a:lnTo>
                  <a:pt x="11926" y="970801"/>
                </a:lnTo>
                <a:lnTo>
                  <a:pt x="3042" y="923633"/>
                </a:lnTo>
                <a:lnTo>
                  <a:pt x="0" y="874649"/>
                </a:lnTo>
                <a:lnTo>
                  <a:pt x="0" y="390503"/>
                </a:lnTo>
                <a:lnTo>
                  <a:pt x="3042" y="341519"/>
                </a:lnTo>
                <a:lnTo>
                  <a:pt x="11926" y="294351"/>
                </a:lnTo>
                <a:lnTo>
                  <a:pt x="26285" y="249364"/>
                </a:lnTo>
                <a:lnTo>
                  <a:pt x="45753" y="206925"/>
                </a:lnTo>
                <a:lnTo>
                  <a:pt x="69965" y="167400"/>
                </a:lnTo>
                <a:lnTo>
                  <a:pt x="98554" y="131154"/>
                </a:lnTo>
                <a:lnTo>
                  <a:pt x="131154" y="98554"/>
                </a:lnTo>
                <a:lnTo>
                  <a:pt x="167400" y="69965"/>
                </a:lnTo>
                <a:lnTo>
                  <a:pt x="206925" y="45753"/>
                </a:lnTo>
                <a:lnTo>
                  <a:pt x="249364" y="26285"/>
                </a:lnTo>
                <a:lnTo>
                  <a:pt x="294351" y="11926"/>
                </a:lnTo>
                <a:lnTo>
                  <a:pt x="341519" y="3042"/>
                </a:lnTo>
                <a:lnTo>
                  <a:pt x="390503" y="0"/>
                </a:lnTo>
                <a:lnTo>
                  <a:pt x="7577461" y="0"/>
                </a:lnTo>
                <a:lnTo>
                  <a:pt x="7626445" y="3042"/>
                </a:lnTo>
                <a:lnTo>
                  <a:pt x="7673613" y="11926"/>
                </a:lnTo>
                <a:lnTo>
                  <a:pt x="7718599" y="26285"/>
                </a:lnTo>
                <a:lnTo>
                  <a:pt x="7761038" y="45753"/>
                </a:lnTo>
                <a:lnTo>
                  <a:pt x="7800564" y="69965"/>
                </a:lnTo>
                <a:lnTo>
                  <a:pt x="7836809" y="98554"/>
                </a:lnTo>
                <a:lnTo>
                  <a:pt x="7869410" y="131154"/>
                </a:lnTo>
                <a:lnTo>
                  <a:pt x="7897999" y="167400"/>
                </a:lnTo>
                <a:lnTo>
                  <a:pt x="7922210" y="206925"/>
                </a:lnTo>
                <a:lnTo>
                  <a:pt x="7941679" y="249364"/>
                </a:lnTo>
                <a:lnTo>
                  <a:pt x="7956038" y="294351"/>
                </a:lnTo>
                <a:lnTo>
                  <a:pt x="7964921" y="341519"/>
                </a:lnTo>
                <a:lnTo>
                  <a:pt x="7966506" y="367039"/>
                </a:lnTo>
                <a:lnTo>
                  <a:pt x="7966506" y="898113"/>
                </a:lnTo>
                <a:lnTo>
                  <a:pt x="7956038" y="970801"/>
                </a:lnTo>
                <a:lnTo>
                  <a:pt x="7941679" y="1015788"/>
                </a:lnTo>
                <a:lnTo>
                  <a:pt x="7922210" y="1058227"/>
                </a:lnTo>
                <a:lnTo>
                  <a:pt x="7897999" y="1097752"/>
                </a:lnTo>
                <a:lnTo>
                  <a:pt x="7869410" y="1133998"/>
                </a:lnTo>
                <a:lnTo>
                  <a:pt x="7836809" y="1166598"/>
                </a:lnTo>
                <a:lnTo>
                  <a:pt x="7800564" y="1195187"/>
                </a:lnTo>
                <a:lnTo>
                  <a:pt x="7761038" y="1219398"/>
                </a:lnTo>
                <a:lnTo>
                  <a:pt x="7718599" y="1238867"/>
                </a:lnTo>
                <a:lnTo>
                  <a:pt x="7673613" y="1253226"/>
                </a:lnTo>
                <a:lnTo>
                  <a:pt x="7626445" y="1262109"/>
                </a:lnTo>
                <a:lnTo>
                  <a:pt x="7577461" y="1265152"/>
                </a:lnTo>
                <a:close/>
              </a:path>
            </a:pathLst>
          </a:custGeom>
          <a:solidFill>
            <a:srgbClr val="8FD1D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00" name="Google Shape;200;g3bcb8ae8026_0_0"/>
          <p:cNvSpPr/>
          <p:nvPr/>
        </p:nvSpPr>
        <p:spPr>
          <a:xfrm>
            <a:off x="8739240" y="8122499"/>
            <a:ext cx="8037194" cy="1310004"/>
          </a:xfrm>
          <a:custGeom>
            <a:rect b="b" l="l" r="r" t="t"/>
            <a:pathLst>
              <a:path extrusionOk="0" h="1310004" w="8037194">
                <a:moveTo>
                  <a:pt x="7646488" y="1309589"/>
                </a:moveTo>
                <a:lnTo>
                  <a:pt x="390503" y="1309589"/>
                </a:lnTo>
                <a:lnTo>
                  <a:pt x="339174" y="1306202"/>
                </a:lnTo>
                <a:lnTo>
                  <a:pt x="289158" y="1296210"/>
                </a:lnTo>
                <a:lnTo>
                  <a:pt x="241064" y="1279863"/>
                </a:lnTo>
                <a:lnTo>
                  <a:pt x="195497" y="1257414"/>
                </a:lnTo>
                <a:lnTo>
                  <a:pt x="153065" y="1229113"/>
                </a:lnTo>
                <a:lnTo>
                  <a:pt x="114376" y="1195213"/>
                </a:lnTo>
                <a:lnTo>
                  <a:pt x="80475" y="1156523"/>
                </a:lnTo>
                <a:lnTo>
                  <a:pt x="52174" y="1114091"/>
                </a:lnTo>
                <a:lnTo>
                  <a:pt x="29725" y="1068525"/>
                </a:lnTo>
                <a:lnTo>
                  <a:pt x="13378" y="1020430"/>
                </a:lnTo>
                <a:lnTo>
                  <a:pt x="3386" y="970415"/>
                </a:lnTo>
                <a:lnTo>
                  <a:pt x="0" y="919086"/>
                </a:lnTo>
                <a:lnTo>
                  <a:pt x="0" y="390503"/>
                </a:lnTo>
                <a:lnTo>
                  <a:pt x="3386" y="339174"/>
                </a:lnTo>
                <a:lnTo>
                  <a:pt x="13378" y="289158"/>
                </a:lnTo>
                <a:lnTo>
                  <a:pt x="29725" y="241064"/>
                </a:lnTo>
                <a:lnTo>
                  <a:pt x="52174" y="195497"/>
                </a:lnTo>
                <a:lnTo>
                  <a:pt x="80475" y="153065"/>
                </a:lnTo>
                <a:lnTo>
                  <a:pt x="114376" y="114376"/>
                </a:lnTo>
                <a:lnTo>
                  <a:pt x="153065" y="80475"/>
                </a:lnTo>
                <a:lnTo>
                  <a:pt x="195497" y="52174"/>
                </a:lnTo>
                <a:lnTo>
                  <a:pt x="241064" y="29725"/>
                </a:lnTo>
                <a:lnTo>
                  <a:pt x="289158" y="13379"/>
                </a:lnTo>
                <a:lnTo>
                  <a:pt x="339174" y="3386"/>
                </a:lnTo>
                <a:lnTo>
                  <a:pt x="390503" y="0"/>
                </a:lnTo>
                <a:lnTo>
                  <a:pt x="7646488" y="0"/>
                </a:lnTo>
                <a:lnTo>
                  <a:pt x="7697817" y="3386"/>
                </a:lnTo>
                <a:lnTo>
                  <a:pt x="7747833" y="13379"/>
                </a:lnTo>
                <a:lnTo>
                  <a:pt x="7795927" y="29725"/>
                </a:lnTo>
                <a:lnTo>
                  <a:pt x="7841493" y="52174"/>
                </a:lnTo>
                <a:lnTo>
                  <a:pt x="7883925" y="80475"/>
                </a:lnTo>
                <a:lnTo>
                  <a:pt x="7922615" y="114376"/>
                </a:lnTo>
                <a:lnTo>
                  <a:pt x="7956515" y="153065"/>
                </a:lnTo>
                <a:lnTo>
                  <a:pt x="7984816" y="195497"/>
                </a:lnTo>
                <a:lnTo>
                  <a:pt x="8007266" y="241064"/>
                </a:lnTo>
                <a:lnTo>
                  <a:pt x="8023613" y="289158"/>
                </a:lnTo>
                <a:lnTo>
                  <a:pt x="8033605" y="339174"/>
                </a:lnTo>
                <a:lnTo>
                  <a:pt x="8036580" y="384256"/>
                </a:lnTo>
                <a:lnTo>
                  <a:pt x="8036580" y="925333"/>
                </a:lnTo>
                <a:lnTo>
                  <a:pt x="8033605" y="970415"/>
                </a:lnTo>
                <a:lnTo>
                  <a:pt x="8023613" y="1020430"/>
                </a:lnTo>
                <a:lnTo>
                  <a:pt x="8007266" y="1068525"/>
                </a:lnTo>
                <a:lnTo>
                  <a:pt x="7984816" y="1114091"/>
                </a:lnTo>
                <a:lnTo>
                  <a:pt x="7956515" y="1156523"/>
                </a:lnTo>
                <a:lnTo>
                  <a:pt x="7922615" y="1195213"/>
                </a:lnTo>
                <a:lnTo>
                  <a:pt x="7883925" y="1229113"/>
                </a:lnTo>
                <a:lnTo>
                  <a:pt x="7841493" y="1257414"/>
                </a:lnTo>
                <a:lnTo>
                  <a:pt x="7795927" y="1279863"/>
                </a:lnTo>
                <a:lnTo>
                  <a:pt x="7747833" y="1296210"/>
                </a:lnTo>
                <a:lnTo>
                  <a:pt x="7697817" y="1306202"/>
                </a:lnTo>
                <a:lnTo>
                  <a:pt x="7646488" y="1309589"/>
                </a:lnTo>
                <a:close/>
              </a:path>
            </a:pathLst>
          </a:custGeom>
          <a:solidFill>
            <a:srgbClr val="8FD1D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01" name="Google Shape;201;g3bcb8ae8026_0_0"/>
          <p:cNvSpPr txBox="1"/>
          <p:nvPr/>
        </p:nvSpPr>
        <p:spPr>
          <a:xfrm>
            <a:off x="1864766" y="2445468"/>
            <a:ext cx="14449500" cy="71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572770" lvl="0" marL="5746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50"/>
              <a:buFont typeface="Trebuchet MS"/>
              <a:buAutoNum type="arabicPeriod"/>
            </a:pPr>
            <a:r>
              <a:rPr lang="en-IN" sz="55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Data Preparation</a:t>
            </a:r>
            <a:endParaRPr sz="55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1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Rockwell"/>
              <a:buNone/>
            </a:pPr>
            <a:r>
              <a:t/>
            </a:r>
            <a:endParaRPr sz="55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728344" lvl="0" marL="2123440" marR="5121910" rtl="0" algn="l">
              <a:lnSpc>
                <a:spcPct val="10339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Trebuchet MS"/>
              <a:buAutoNum type="arabicPeriod"/>
            </a:pPr>
            <a:r>
              <a:rPr lang="en-IN" sz="53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Patient &amp; Department 	Analysis</a:t>
            </a:r>
            <a:endParaRPr sz="53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Rockwell"/>
              <a:buNone/>
            </a:pPr>
            <a:r>
              <a:t/>
            </a:r>
            <a:endParaRPr sz="53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756285" lvl="0" marL="546354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lt1"/>
              </a:buClr>
              <a:buSzPts val="5500"/>
              <a:buFont typeface="Trebuchet MS"/>
              <a:buAutoNum type="arabicPeriod"/>
            </a:pPr>
            <a:r>
              <a:rPr lang="en-IN" sz="55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Financial Insights</a:t>
            </a:r>
            <a:endParaRPr sz="55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Rockwell"/>
              <a:buNone/>
            </a:pPr>
            <a:r>
              <a:t/>
            </a:r>
            <a:endParaRPr sz="55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741045" lvl="0" marL="8090534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rebuchet MS"/>
              <a:buAutoNum type="arabicPeriod"/>
            </a:pPr>
            <a:r>
              <a:rPr lang="en-IN" sz="5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Recommendations</a:t>
            </a:r>
            <a:endParaRPr sz="5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"/>
          <p:cNvSpPr/>
          <p:nvPr/>
        </p:nvSpPr>
        <p:spPr>
          <a:xfrm>
            <a:off x="2861844" y="212647"/>
            <a:ext cx="11533505" cy="1589405"/>
          </a:xfrm>
          <a:custGeom>
            <a:rect b="b" l="l" r="r" t="t"/>
            <a:pathLst>
              <a:path extrusionOk="0" h="1589405" w="11533505">
                <a:moveTo>
                  <a:pt x="11202017" y="1589098"/>
                </a:moveTo>
                <a:lnTo>
                  <a:pt x="333356" y="1589098"/>
                </a:lnTo>
                <a:lnTo>
                  <a:pt x="284095" y="1585483"/>
                </a:lnTo>
                <a:lnTo>
                  <a:pt x="237078" y="1574984"/>
                </a:lnTo>
                <a:lnTo>
                  <a:pt x="192821" y="1558115"/>
                </a:lnTo>
                <a:lnTo>
                  <a:pt x="151840" y="1535392"/>
                </a:lnTo>
                <a:lnTo>
                  <a:pt x="114650" y="1507331"/>
                </a:lnTo>
                <a:lnTo>
                  <a:pt x="81766" y="1474448"/>
                </a:lnTo>
                <a:lnTo>
                  <a:pt x="53705" y="1437257"/>
                </a:lnTo>
                <a:lnTo>
                  <a:pt x="30983" y="1396276"/>
                </a:lnTo>
                <a:lnTo>
                  <a:pt x="14114" y="1352019"/>
                </a:lnTo>
                <a:lnTo>
                  <a:pt x="3614" y="1305002"/>
                </a:lnTo>
                <a:lnTo>
                  <a:pt x="0" y="1255741"/>
                </a:lnTo>
                <a:lnTo>
                  <a:pt x="0" y="333356"/>
                </a:lnTo>
                <a:lnTo>
                  <a:pt x="3614" y="284095"/>
                </a:lnTo>
                <a:lnTo>
                  <a:pt x="14114" y="237078"/>
                </a:lnTo>
                <a:lnTo>
                  <a:pt x="30983" y="192821"/>
                </a:lnTo>
                <a:lnTo>
                  <a:pt x="53705" y="151840"/>
                </a:lnTo>
                <a:lnTo>
                  <a:pt x="81766" y="114650"/>
                </a:lnTo>
                <a:lnTo>
                  <a:pt x="114650" y="81766"/>
                </a:lnTo>
                <a:lnTo>
                  <a:pt x="151840" y="53705"/>
                </a:lnTo>
                <a:lnTo>
                  <a:pt x="192821" y="30982"/>
                </a:lnTo>
                <a:lnTo>
                  <a:pt x="237078" y="14113"/>
                </a:lnTo>
                <a:lnTo>
                  <a:pt x="284095" y="3614"/>
                </a:lnTo>
                <a:lnTo>
                  <a:pt x="333356" y="0"/>
                </a:lnTo>
                <a:lnTo>
                  <a:pt x="11202017" y="0"/>
                </a:lnTo>
                <a:lnTo>
                  <a:pt x="11251278" y="3614"/>
                </a:lnTo>
                <a:lnTo>
                  <a:pt x="11298295" y="14113"/>
                </a:lnTo>
                <a:lnTo>
                  <a:pt x="11342552" y="30982"/>
                </a:lnTo>
                <a:lnTo>
                  <a:pt x="11383534" y="53705"/>
                </a:lnTo>
                <a:lnTo>
                  <a:pt x="11420724" y="81766"/>
                </a:lnTo>
                <a:lnTo>
                  <a:pt x="11453607" y="114650"/>
                </a:lnTo>
                <a:lnTo>
                  <a:pt x="11481669" y="151840"/>
                </a:lnTo>
                <a:lnTo>
                  <a:pt x="11504391" y="192821"/>
                </a:lnTo>
                <a:lnTo>
                  <a:pt x="11521260" y="237078"/>
                </a:lnTo>
                <a:lnTo>
                  <a:pt x="11531760" y="284095"/>
                </a:lnTo>
                <a:lnTo>
                  <a:pt x="11533377" y="306130"/>
                </a:lnTo>
                <a:lnTo>
                  <a:pt x="11533377" y="1282967"/>
                </a:lnTo>
                <a:lnTo>
                  <a:pt x="11521260" y="1352019"/>
                </a:lnTo>
                <a:lnTo>
                  <a:pt x="11504391" y="1396276"/>
                </a:lnTo>
                <a:lnTo>
                  <a:pt x="11481669" y="1437257"/>
                </a:lnTo>
                <a:lnTo>
                  <a:pt x="11453607" y="1474448"/>
                </a:lnTo>
                <a:lnTo>
                  <a:pt x="11420724" y="1507331"/>
                </a:lnTo>
                <a:lnTo>
                  <a:pt x="11383534" y="1535392"/>
                </a:lnTo>
                <a:lnTo>
                  <a:pt x="11342552" y="1558115"/>
                </a:lnTo>
                <a:lnTo>
                  <a:pt x="11298295" y="1574984"/>
                </a:lnTo>
                <a:lnTo>
                  <a:pt x="11251278" y="1585483"/>
                </a:lnTo>
                <a:lnTo>
                  <a:pt x="11202017" y="1589098"/>
                </a:lnTo>
                <a:close/>
              </a:path>
            </a:pathLst>
          </a:custGeom>
          <a:solidFill>
            <a:srgbClr val="53C79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07" name="Google Shape;207;p6"/>
          <p:cNvSpPr txBox="1"/>
          <p:nvPr>
            <p:ph type="title"/>
          </p:nvPr>
        </p:nvSpPr>
        <p:spPr>
          <a:xfrm>
            <a:off x="1386138" y="-102228"/>
            <a:ext cx="12954000" cy="20401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61100">
            <a:spAutoFit/>
          </a:bodyPr>
          <a:lstStyle/>
          <a:p>
            <a:pPr indent="0" lvl="0" marL="15970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Font typeface="Bookman Old Style"/>
              <a:buNone/>
            </a:pPr>
            <a:r>
              <a:rPr lang="en-IN" sz="6100"/>
              <a:t>DEPARTMENT WISE REVENUE</a:t>
            </a:r>
            <a:endParaRPr sz="6100"/>
          </a:p>
        </p:txBody>
      </p:sp>
      <p:sp>
        <p:nvSpPr>
          <p:cNvPr id="208" name="Google Shape;208;p6"/>
          <p:cNvSpPr/>
          <p:nvPr/>
        </p:nvSpPr>
        <p:spPr>
          <a:xfrm>
            <a:off x="0" y="8189538"/>
            <a:ext cx="3215005" cy="2098040"/>
          </a:xfrm>
          <a:custGeom>
            <a:rect b="b" l="l" r="r" t="t"/>
            <a:pathLst>
              <a:path extrusionOk="0" h="2098040" w="3215005">
                <a:moveTo>
                  <a:pt x="3214508" y="2097461"/>
                </a:moveTo>
                <a:lnTo>
                  <a:pt x="0" y="2097461"/>
                </a:lnTo>
                <a:lnTo>
                  <a:pt x="0" y="0"/>
                </a:lnTo>
                <a:lnTo>
                  <a:pt x="24268" y="0"/>
                </a:lnTo>
                <a:lnTo>
                  <a:pt x="75923" y="12699"/>
                </a:lnTo>
                <a:lnTo>
                  <a:pt x="127350" y="12699"/>
                </a:lnTo>
                <a:lnTo>
                  <a:pt x="330695" y="63499"/>
                </a:lnTo>
                <a:lnTo>
                  <a:pt x="380920" y="63499"/>
                </a:lnTo>
                <a:lnTo>
                  <a:pt x="725200" y="152399"/>
                </a:lnTo>
                <a:lnTo>
                  <a:pt x="773292" y="177799"/>
                </a:lnTo>
                <a:lnTo>
                  <a:pt x="915845" y="215899"/>
                </a:lnTo>
                <a:lnTo>
                  <a:pt x="962774" y="241299"/>
                </a:lnTo>
                <a:lnTo>
                  <a:pt x="1055725" y="266699"/>
                </a:lnTo>
                <a:lnTo>
                  <a:pt x="1101740" y="292099"/>
                </a:lnTo>
                <a:lnTo>
                  <a:pt x="1192826" y="317499"/>
                </a:lnTo>
                <a:lnTo>
                  <a:pt x="1237889" y="342899"/>
                </a:lnTo>
                <a:lnTo>
                  <a:pt x="1282627" y="355599"/>
                </a:lnTo>
                <a:lnTo>
                  <a:pt x="1327036" y="380999"/>
                </a:lnTo>
                <a:lnTo>
                  <a:pt x="1371112" y="393699"/>
                </a:lnTo>
                <a:lnTo>
                  <a:pt x="1458249" y="444499"/>
                </a:lnTo>
                <a:lnTo>
                  <a:pt x="1501301" y="457199"/>
                </a:lnTo>
                <a:lnTo>
                  <a:pt x="1586354" y="507999"/>
                </a:lnTo>
                <a:lnTo>
                  <a:pt x="1628347" y="520699"/>
                </a:lnTo>
                <a:lnTo>
                  <a:pt x="1752140" y="596899"/>
                </a:lnTo>
                <a:lnTo>
                  <a:pt x="1872573" y="673099"/>
                </a:lnTo>
                <a:lnTo>
                  <a:pt x="1911951" y="685799"/>
                </a:lnTo>
                <a:lnTo>
                  <a:pt x="1950940" y="711199"/>
                </a:lnTo>
                <a:lnTo>
                  <a:pt x="2027732" y="761999"/>
                </a:lnTo>
                <a:lnTo>
                  <a:pt x="2065528" y="800099"/>
                </a:lnTo>
                <a:lnTo>
                  <a:pt x="2139898" y="850899"/>
                </a:lnTo>
                <a:lnTo>
                  <a:pt x="2212614" y="901699"/>
                </a:lnTo>
                <a:lnTo>
                  <a:pt x="2283641" y="952499"/>
                </a:lnTo>
                <a:lnTo>
                  <a:pt x="2318513" y="990599"/>
                </a:lnTo>
                <a:lnTo>
                  <a:pt x="2352950" y="1015999"/>
                </a:lnTo>
                <a:lnTo>
                  <a:pt x="2420506" y="1066799"/>
                </a:lnTo>
                <a:lnTo>
                  <a:pt x="2453617" y="1104899"/>
                </a:lnTo>
                <a:lnTo>
                  <a:pt x="2486278" y="1130299"/>
                </a:lnTo>
                <a:lnTo>
                  <a:pt x="2518485" y="1155699"/>
                </a:lnTo>
                <a:lnTo>
                  <a:pt x="2550234" y="1193799"/>
                </a:lnTo>
                <a:lnTo>
                  <a:pt x="2581520" y="1219199"/>
                </a:lnTo>
                <a:lnTo>
                  <a:pt x="2612341" y="1257299"/>
                </a:lnTo>
                <a:lnTo>
                  <a:pt x="2642691" y="1282699"/>
                </a:lnTo>
                <a:lnTo>
                  <a:pt x="2672567" y="1320799"/>
                </a:lnTo>
                <a:lnTo>
                  <a:pt x="2701964" y="1346199"/>
                </a:lnTo>
                <a:lnTo>
                  <a:pt x="2730880" y="1384299"/>
                </a:lnTo>
                <a:lnTo>
                  <a:pt x="2759308" y="1409699"/>
                </a:lnTo>
                <a:lnTo>
                  <a:pt x="2787247" y="1447799"/>
                </a:lnTo>
                <a:lnTo>
                  <a:pt x="2814691" y="1473199"/>
                </a:lnTo>
                <a:lnTo>
                  <a:pt x="2841637" y="1511299"/>
                </a:lnTo>
                <a:lnTo>
                  <a:pt x="2868080" y="1549399"/>
                </a:lnTo>
                <a:lnTo>
                  <a:pt x="2894016" y="1574799"/>
                </a:lnTo>
                <a:lnTo>
                  <a:pt x="2919442" y="1612899"/>
                </a:lnTo>
                <a:lnTo>
                  <a:pt x="2944354" y="1650999"/>
                </a:lnTo>
                <a:lnTo>
                  <a:pt x="2968747" y="1676399"/>
                </a:lnTo>
                <a:lnTo>
                  <a:pt x="2992617" y="1714499"/>
                </a:lnTo>
                <a:lnTo>
                  <a:pt x="3015960" y="1752599"/>
                </a:lnTo>
                <a:lnTo>
                  <a:pt x="3038773" y="1790699"/>
                </a:lnTo>
                <a:lnTo>
                  <a:pt x="3061051" y="1816099"/>
                </a:lnTo>
                <a:lnTo>
                  <a:pt x="3082790" y="1854199"/>
                </a:lnTo>
                <a:lnTo>
                  <a:pt x="3103986" y="1892299"/>
                </a:lnTo>
                <a:lnTo>
                  <a:pt x="3124636" y="1930399"/>
                </a:lnTo>
                <a:lnTo>
                  <a:pt x="3144735" y="1968499"/>
                </a:lnTo>
                <a:lnTo>
                  <a:pt x="3164278" y="2006599"/>
                </a:lnTo>
                <a:lnTo>
                  <a:pt x="3183263" y="2044699"/>
                </a:lnTo>
                <a:lnTo>
                  <a:pt x="3201685" y="2070099"/>
                </a:lnTo>
                <a:lnTo>
                  <a:pt x="3214508" y="2097461"/>
                </a:lnTo>
                <a:close/>
              </a:path>
            </a:pathLst>
          </a:custGeom>
          <a:solidFill>
            <a:srgbClr val="11253C">
              <a:alpha val="4196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209" name="Google Shape;20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6920" y="2939197"/>
            <a:ext cx="9877424" cy="6095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317" y="3845380"/>
            <a:ext cx="104213" cy="104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317" y="6711259"/>
            <a:ext cx="104213" cy="104213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6"/>
          <p:cNvSpPr txBox="1"/>
          <p:nvPr/>
        </p:nvSpPr>
        <p:spPr>
          <a:xfrm>
            <a:off x="208025" y="2624922"/>
            <a:ext cx="7447800" cy="70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Insights:</a:t>
            </a:r>
            <a:br>
              <a:rPr lang="en-IN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3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7795" marR="5080" rtl="0" algn="just">
              <a:lnSpc>
                <a:spcPct val="160000"/>
              </a:lnSpc>
              <a:spcBef>
                <a:spcPts val="2135"/>
              </a:spcBef>
              <a:spcAft>
                <a:spcPts val="0"/>
              </a:spcAft>
              <a:buNone/>
            </a:pPr>
            <a:r>
              <a:rPr lang="en-IN" sz="2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Orthopedics  and  General  Practice  are  the  top revenue-generating departments, contributing the highest  share  to  the  hospital’s  overall  income indicating  strong  patient  demand  and  service utilization in these areas.</a:t>
            </a:r>
            <a:br>
              <a:rPr lang="en-IN" sz="2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23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7795" marR="5080" rtl="0" algn="just">
              <a:lnSpc>
                <a:spcPct val="16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IN" sz="2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Renal</a:t>
            </a:r>
            <a:r>
              <a:rPr lang="en-IN" sz="2350">
                <a:solidFill>
                  <a:srgbClr val="FFFFFF"/>
                </a:solidFill>
              </a:rPr>
              <a:t> </a:t>
            </a:r>
            <a:r>
              <a:rPr lang="en-IN" sz="2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-IN" sz="2350">
                <a:solidFill>
                  <a:srgbClr val="FFFFFF"/>
                </a:solidFill>
              </a:rPr>
              <a:t> </a:t>
            </a:r>
            <a:r>
              <a:rPr lang="en-IN" sz="2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Gastroenterology</a:t>
            </a:r>
            <a:r>
              <a:rPr lang="en-IN" sz="2350">
                <a:solidFill>
                  <a:srgbClr val="FFFFFF"/>
                </a:solidFill>
              </a:rPr>
              <a:t> </a:t>
            </a:r>
            <a:r>
              <a:rPr lang="en-IN" sz="2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generate</a:t>
            </a:r>
            <a:r>
              <a:rPr lang="en-IN" sz="2350">
                <a:solidFill>
                  <a:srgbClr val="FFFFFF"/>
                </a:solidFill>
              </a:rPr>
              <a:t> </a:t>
            </a:r>
            <a:r>
              <a:rPr lang="en-IN" sz="2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lang="en-IN" sz="2350">
                <a:solidFill>
                  <a:srgbClr val="FFFFFF"/>
                </a:solidFill>
              </a:rPr>
              <a:t> </a:t>
            </a:r>
            <a:r>
              <a:rPr lang="en-IN" sz="2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least revenue, suggesting either lower patient inflow or limited services offerings, which may require further review or targeted imp</a:t>
            </a:r>
            <a:r>
              <a:rPr lang="en-IN" sz="2350">
                <a:solidFill>
                  <a:srgbClr val="FFFFFF"/>
                </a:solidFill>
              </a:rPr>
              <a:t>rovement strategies</a:t>
            </a:r>
            <a:endParaRPr sz="23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"/>
          <p:cNvSpPr/>
          <p:nvPr/>
        </p:nvSpPr>
        <p:spPr>
          <a:xfrm>
            <a:off x="1526344" y="362934"/>
            <a:ext cx="15234919" cy="1331595"/>
          </a:xfrm>
          <a:custGeom>
            <a:rect b="b" l="l" r="r" t="t"/>
            <a:pathLst>
              <a:path extrusionOk="0" h="1331595" w="15234919">
                <a:moveTo>
                  <a:pt x="14901105" y="1331532"/>
                </a:moveTo>
                <a:lnTo>
                  <a:pt x="333356" y="1331532"/>
                </a:lnTo>
                <a:lnTo>
                  <a:pt x="284095" y="1327917"/>
                </a:lnTo>
                <a:lnTo>
                  <a:pt x="237078" y="1317418"/>
                </a:lnTo>
                <a:lnTo>
                  <a:pt x="192821" y="1300549"/>
                </a:lnTo>
                <a:lnTo>
                  <a:pt x="151840" y="1277826"/>
                </a:lnTo>
                <a:lnTo>
                  <a:pt x="114650" y="1249765"/>
                </a:lnTo>
                <a:lnTo>
                  <a:pt x="81766" y="1216882"/>
                </a:lnTo>
                <a:lnTo>
                  <a:pt x="53705" y="1179692"/>
                </a:lnTo>
                <a:lnTo>
                  <a:pt x="30982" y="1138710"/>
                </a:lnTo>
                <a:lnTo>
                  <a:pt x="14113" y="1094453"/>
                </a:lnTo>
                <a:lnTo>
                  <a:pt x="3614" y="1047436"/>
                </a:lnTo>
                <a:lnTo>
                  <a:pt x="0" y="998175"/>
                </a:lnTo>
                <a:lnTo>
                  <a:pt x="0" y="333356"/>
                </a:lnTo>
                <a:lnTo>
                  <a:pt x="3614" y="284095"/>
                </a:lnTo>
                <a:lnTo>
                  <a:pt x="14113" y="237078"/>
                </a:lnTo>
                <a:lnTo>
                  <a:pt x="30982" y="192821"/>
                </a:lnTo>
                <a:lnTo>
                  <a:pt x="53705" y="151840"/>
                </a:lnTo>
                <a:lnTo>
                  <a:pt x="81766" y="114650"/>
                </a:lnTo>
                <a:lnTo>
                  <a:pt x="114650" y="81766"/>
                </a:lnTo>
                <a:lnTo>
                  <a:pt x="151840" y="53705"/>
                </a:lnTo>
                <a:lnTo>
                  <a:pt x="192821" y="30982"/>
                </a:lnTo>
                <a:lnTo>
                  <a:pt x="237078" y="14113"/>
                </a:lnTo>
                <a:lnTo>
                  <a:pt x="284095" y="3614"/>
                </a:lnTo>
                <a:lnTo>
                  <a:pt x="333356" y="0"/>
                </a:lnTo>
                <a:lnTo>
                  <a:pt x="14901105" y="0"/>
                </a:lnTo>
                <a:lnTo>
                  <a:pt x="14950366" y="3614"/>
                </a:lnTo>
                <a:lnTo>
                  <a:pt x="14997383" y="14113"/>
                </a:lnTo>
                <a:lnTo>
                  <a:pt x="15041640" y="30982"/>
                </a:lnTo>
                <a:lnTo>
                  <a:pt x="15082621" y="53705"/>
                </a:lnTo>
                <a:lnTo>
                  <a:pt x="15119811" y="81766"/>
                </a:lnTo>
                <a:lnTo>
                  <a:pt x="15152695" y="114650"/>
                </a:lnTo>
                <a:lnTo>
                  <a:pt x="15180756" y="151840"/>
                </a:lnTo>
                <a:lnTo>
                  <a:pt x="15203479" y="192821"/>
                </a:lnTo>
                <a:lnTo>
                  <a:pt x="15220348" y="237078"/>
                </a:lnTo>
                <a:lnTo>
                  <a:pt x="15230847" y="284095"/>
                </a:lnTo>
                <a:lnTo>
                  <a:pt x="15234462" y="333356"/>
                </a:lnTo>
                <a:lnTo>
                  <a:pt x="15234462" y="998175"/>
                </a:lnTo>
                <a:lnTo>
                  <a:pt x="15230847" y="1047436"/>
                </a:lnTo>
                <a:lnTo>
                  <a:pt x="15220348" y="1094453"/>
                </a:lnTo>
                <a:lnTo>
                  <a:pt x="15203479" y="1138710"/>
                </a:lnTo>
                <a:lnTo>
                  <a:pt x="15180756" y="1179692"/>
                </a:lnTo>
                <a:lnTo>
                  <a:pt x="15152695" y="1216882"/>
                </a:lnTo>
                <a:lnTo>
                  <a:pt x="15119811" y="1249765"/>
                </a:lnTo>
                <a:lnTo>
                  <a:pt x="15082621" y="1277826"/>
                </a:lnTo>
                <a:lnTo>
                  <a:pt x="15041640" y="1300549"/>
                </a:lnTo>
                <a:lnTo>
                  <a:pt x="14997383" y="1317418"/>
                </a:lnTo>
                <a:lnTo>
                  <a:pt x="14950366" y="1327917"/>
                </a:lnTo>
                <a:lnTo>
                  <a:pt x="14901105" y="1331532"/>
                </a:lnTo>
                <a:close/>
              </a:path>
            </a:pathLst>
          </a:custGeom>
          <a:solidFill>
            <a:srgbClr val="53C79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18" name="Google Shape;218;p7"/>
          <p:cNvSpPr txBox="1"/>
          <p:nvPr>
            <p:ph type="title"/>
          </p:nvPr>
        </p:nvSpPr>
        <p:spPr>
          <a:xfrm>
            <a:off x="1969504" y="597978"/>
            <a:ext cx="14349094" cy="848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Bookman Old Style"/>
              <a:buNone/>
            </a:pPr>
            <a:r>
              <a:rPr lang="en-IN" sz="5400"/>
              <a:t>PATIENT SATISFACTION ANALYSIS BY AGE &amp; RACE</a:t>
            </a:r>
            <a:endParaRPr sz="5400"/>
          </a:p>
        </p:txBody>
      </p:sp>
      <p:sp>
        <p:nvSpPr>
          <p:cNvPr id="219" name="Google Shape;219;p7"/>
          <p:cNvSpPr/>
          <p:nvPr/>
        </p:nvSpPr>
        <p:spPr>
          <a:xfrm>
            <a:off x="0" y="8189538"/>
            <a:ext cx="3215005" cy="2098040"/>
          </a:xfrm>
          <a:custGeom>
            <a:rect b="b" l="l" r="r" t="t"/>
            <a:pathLst>
              <a:path extrusionOk="0" h="2098040" w="3215005">
                <a:moveTo>
                  <a:pt x="3214508" y="2097461"/>
                </a:moveTo>
                <a:lnTo>
                  <a:pt x="0" y="2097461"/>
                </a:lnTo>
                <a:lnTo>
                  <a:pt x="0" y="0"/>
                </a:lnTo>
                <a:lnTo>
                  <a:pt x="24268" y="0"/>
                </a:lnTo>
                <a:lnTo>
                  <a:pt x="75923" y="12699"/>
                </a:lnTo>
                <a:lnTo>
                  <a:pt x="127350" y="12699"/>
                </a:lnTo>
                <a:lnTo>
                  <a:pt x="330695" y="63499"/>
                </a:lnTo>
                <a:lnTo>
                  <a:pt x="380920" y="63499"/>
                </a:lnTo>
                <a:lnTo>
                  <a:pt x="725200" y="152399"/>
                </a:lnTo>
                <a:lnTo>
                  <a:pt x="773292" y="177799"/>
                </a:lnTo>
                <a:lnTo>
                  <a:pt x="915845" y="215899"/>
                </a:lnTo>
                <a:lnTo>
                  <a:pt x="962774" y="241299"/>
                </a:lnTo>
                <a:lnTo>
                  <a:pt x="1055725" y="266699"/>
                </a:lnTo>
                <a:lnTo>
                  <a:pt x="1101740" y="292099"/>
                </a:lnTo>
                <a:lnTo>
                  <a:pt x="1192826" y="317499"/>
                </a:lnTo>
                <a:lnTo>
                  <a:pt x="1237889" y="342899"/>
                </a:lnTo>
                <a:lnTo>
                  <a:pt x="1282627" y="355599"/>
                </a:lnTo>
                <a:lnTo>
                  <a:pt x="1327036" y="380999"/>
                </a:lnTo>
                <a:lnTo>
                  <a:pt x="1371112" y="393699"/>
                </a:lnTo>
                <a:lnTo>
                  <a:pt x="1458249" y="444499"/>
                </a:lnTo>
                <a:lnTo>
                  <a:pt x="1501301" y="457199"/>
                </a:lnTo>
                <a:lnTo>
                  <a:pt x="1586354" y="507999"/>
                </a:lnTo>
                <a:lnTo>
                  <a:pt x="1628347" y="520699"/>
                </a:lnTo>
                <a:lnTo>
                  <a:pt x="1752140" y="596899"/>
                </a:lnTo>
                <a:lnTo>
                  <a:pt x="1872573" y="673099"/>
                </a:lnTo>
                <a:lnTo>
                  <a:pt x="1911951" y="685799"/>
                </a:lnTo>
                <a:lnTo>
                  <a:pt x="1950940" y="711199"/>
                </a:lnTo>
                <a:lnTo>
                  <a:pt x="2027732" y="761999"/>
                </a:lnTo>
                <a:lnTo>
                  <a:pt x="2065528" y="800099"/>
                </a:lnTo>
                <a:lnTo>
                  <a:pt x="2139898" y="850899"/>
                </a:lnTo>
                <a:lnTo>
                  <a:pt x="2212614" y="901699"/>
                </a:lnTo>
                <a:lnTo>
                  <a:pt x="2283641" y="952499"/>
                </a:lnTo>
                <a:lnTo>
                  <a:pt x="2318513" y="990599"/>
                </a:lnTo>
                <a:lnTo>
                  <a:pt x="2352950" y="1015999"/>
                </a:lnTo>
                <a:lnTo>
                  <a:pt x="2420506" y="1066799"/>
                </a:lnTo>
                <a:lnTo>
                  <a:pt x="2453617" y="1104899"/>
                </a:lnTo>
                <a:lnTo>
                  <a:pt x="2486278" y="1130299"/>
                </a:lnTo>
                <a:lnTo>
                  <a:pt x="2518485" y="1155699"/>
                </a:lnTo>
                <a:lnTo>
                  <a:pt x="2550234" y="1193799"/>
                </a:lnTo>
                <a:lnTo>
                  <a:pt x="2581520" y="1219199"/>
                </a:lnTo>
                <a:lnTo>
                  <a:pt x="2612341" y="1257299"/>
                </a:lnTo>
                <a:lnTo>
                  <a:pt x="2642691" y="1282699"/>
                </a:lnTo>
                <a:lnTo>
                  <a:pt x="2672567" y="1320799"/>
                </a:lnTo>
                <a:lnTo>
                  <a:pt x="2701964" y="1346199"/>
                </a:lnTo>
                <a:lnTo>
                  <a:pt x="2730880" y="1384299"/>
                </a:lnTo>
                <a:lnTo>
                  <a:pt x="2759308" y="1409699"/>
                </a:lnTo>
                <a:lnTo>
                  <a:pt x="2787247" y="1447799"/>
                </a:lnTo>
                <a:lnTo>
                  <a:pt x="2814691" y="1473199"/>
                </a:lnTo>
                <a:lnTo>
                  <a:pt x="2841637" y="1511299"/>
                </a:lnTo>
                <a:lnTo>
                  <a:pt x="2868080" y="1549399"/>
                </a:lnTo>
                <a:lnTo>
                  <a:pt x="2894016" y="1574799"/>
                </a:lnTo>
                <a:lnTo>
                  <a:pt x="2919442" y="1612899"/>
                </a:lnTo>
                <a:lnTo>
                  <a:pt x="2944354" y="1650999"/>
                </a:lnTo>
                <a:lnTo>
                  <a:pt x="2968747" y="1676399"/>
                </a:lnTo>
                <a:lnTo>
                  <a:pt x="2992617" y="1714499"/>
                </a:lnTo>
                <a:lnTo>
                  <a:pt x="3015960" y="1752599"/>
                </a:lnTo>
                <a:lnTo>
                  <a:pt x="3038773" y="1790699"/>
                </a:lnTo>
                <a:lnTo>
                  <a:pt x="3061051" y="1816099"/>
                </a:lnTo>
                <a:lnTo>
                  <a:pt x="3082790" y="1854199"/>
                </a:lnTo>
                <a:lnTo>
                  <a:pt x="3103986" y="1892299"/>
                </a:lnTo>
                <a:lnTo>
                  <a:pt x="3124636" y="1930399"/>
                </a:lnTo>
                <a:lnTo>
                  <a:pt x="3144735" y="1968499"/>
                </a:lnTo>
                <a:lnTo>
                  <a:pt x="3164278" y="2006599"/>
                </a:lnTo>
                <a:lnTo>
                  <a:pt x="3183263" y="2044699"/>
                </a:lnTo>
                <a:lnTo>
                  <a:pt x="3201685" y="2070099"/>
                </a:lnTo>
                <a:lnTo>
                  <a:pt x="3214508" y="2097461"/>
                </a:lnTo>
                <a:close/>
              </a:path>
            </a:pathLst>
          </a:custGeom>
          <a:solidFill>
            <a:srgbClr val="11253C">
              <a:alpha val="4196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220" name="Google Shape;22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8560" y="3492994"/>
            <a:ext cx="9191624" cy="556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556" y="3718678"/>
            <a:ext cx="104779" cy="104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556" y="7019242"/>
            <a:ext cx="104779" cy="104779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7"/>
          <p:cNvSpPr txBox="1"/>
          <p:nvPr/>
        </p:nvSpPr>
        <p:spPr>
          <a:xfrm>
            <a:off x="208037" y="2378515"/>
            <a:ext cx="8262600" cy="74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Insights:</a:t>
            </a:r>
            <a:endParaRPr sz="3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6525" marR="5080" rtl="0" algn="just">
              <a:lnSpc>
                <a:spcPct val="150400"/>
              </a:lnSpc>
              <a:spcBef>
                <a:spcPts val="3275"/>
              </a:spcBef>
              <a:spcAft>
                <a:spcPts val="0"/>
              </a:spcAft>
              <a:buNone/>
            </a:pPr>
            <a:r>
              <a:rPr lang="en-IN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numbers look a little low, right? That’s because during data cleaning, it was found that around </a:t>
            </a:r>
            <a:r>
              <a:rPr lang="en-IN" sz="2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72% </a:t>
            </a:r>
            <a:r>
              <a:rPr lang="en-IN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of patient satisfaction scores were missing possibly due to   incomplete   survey   submissions,   unrecorded feedback from emergency visits, or manual entry gaps in the hospital system.</a:t>
            </a:r>
            <a:br>
              <a:rPr lang="en-IN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6525" marR="5080" rtl="0" algn="just">
              <a:lnSpc>
                <a:spcPct val="150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Even with limited data, we observed that patients aged </a:t>
            </a:r>
            <a:r>
              <a:rPr lang="en-IN" sz="2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18–39  </a:t>
            </a:r>
            <a:r>
              <a:rPr lang="en-IN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showed  slightly  higher  satisfaction  levels compared to other age groups, while racial differences were  minimal,  indicating  fairly  consistent  patient experiences across demographics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"/>
          <p:cNvSpPr/>
          <p:nvPr/>
        </p:nvSpPr>
        <p:spPr>
          <a:xfrm>
            <a:off x="1526344" y="362934"/>
            <a:ext cx="15234919" cy="1331595"/>
          </a:xfrm>
          <a:custGeom>
            <a:rect b="b" l="l" r="r" t="t"/>
            <a:pathLst>
              <a:path extrusionOk="0" h="1331595" w="15234919">
                <a:moveTo>
                  <a:pt x="14901105" y="1331532"/>
                </a:moveTo>
                <a:lnTo>
                  <a:pt x="333356" y="1331532"/>
                </a:lnTo>
                <a:lnTo>
                  <a:pt x="284095" y="1327917"/>
                </a:lnTo>
                <a:lnTo>
                  <a:pt x="237078" y="1317418"/>
                </a:lnTo>
                <a:lnTo>
                  <a:pt x="192821" y="1300549"/>
                </a:lnTo>
                <a:lnTo>
                  <a:pt x="151840" y="1277826"/>
                </a:lnTo>
                <a:lnTo>
                  <a:pt x="114650" y="1249765"/>
                </a:lnTo>
                <a:lnTo>
                  <a:pt x="81766" y="1216882"/>
                </a:lnTo>
                <a:lnTo>
                  <a:pt x="53705" y="1179692"/>
                </a:lnTo>
                <a:lnTo>
                  <a:pt x="30982" y="1138710"/>
                </a:lnTo>
                <a:lnTo>
                  <a:pt x="14113" y="1094453"/>
                </a:lnTo>
                <a:lnTo>
                  <a:pt x="3614" y="1047436"/>
                </a:lnTo>
                <a:lnTo>
                  <a:pt x="0" y="998175"/>
                </a:lnTo>
                <a:lnTo>
                  <a:pt x="0" y="333356"/>
                </a:lnTo>
                <a:lnTo>
                  <a:pt x="3614" y="284095"/>
                </a:lnTo>
                <a:lnTo>
                  <a:pt x="14113" y="237078"/>
                </a:lnTo>
                <a:lnTo>
                  <a:pt x="30982" y="192821"/>
                </a:lnTo>
                <a:lnTo>
                  <a:pt x="53705" y="151840"/>
                </a:lnTo>
                <a:lnTo>
                  <a:pt x="81766" y="114650"/>
                </a:lnTo>
                <a:lnTo>
                  <a:pt x="114650" y="81766"/>
                </a:lnTo>
                <a:lnTo>
                  <a:pt x="151840" y="53705"/>
                </a:lnTo>
                <a:lnTo>
                  <a:pt x="192821" y="30982"/>
                </a:lnTo>
                <a:lnTo>
                  <a:pt x="237078" y="14113"/>
                </a:lnTo>
                <a:lnTo>
                  <a:pt x="284095" y="3614"/>
                </a:lnTo>
                <a:lnTo>
                  <a:pt x="333356" y="0"/>
                </a:lnTo>
                <a:lnTo>
                  <a:pt x="14901105" y="0"/>
                </a:lnTo>
                <a:lnTo>
                  <a:pt x="14950366" y="3614"/>
                </a:lnTo>
                <a:lnTo>
                  <a:pt x="14997383" y="14113"/>
                </a:lnTo>
                <a:lnTo>
                  <a:pt x="15041640" y="30982"/>
                </a:lnTo>
                <a:lnTo>
                  <a:pt x="15082621" y="53705"/>
                </a:lnTo>
                <a:lnTo>
                  <a:pt x="15119811" y="81766"/>
                </a:lnTo>
                <a:lnTo>
                  <a:pt x="15152695" y="114650"/>
                </a:lnTo>
                <a:lnTo>
                  <a:pt x="15180756" y="151840"/>
                </a:lnTo>
                <a:lnTo>
                  <a:pt x="15203479" y="192821"/>
                </a:lnTo>
                <a:lnTo>
                  <a:pt x="15220348" y="237078"/>
                </a:lnTo>
                <a:lnTo>
                  <a:pt x="15230847" y="284095"/>
                </a:lnTo>
                <a:lnTo>
                  <a:pt x="15234462" y="333356"/>
                </a:lnTo>
                <a:lnTo>
                  <a:pt x="15234462" y="998175"/>
                </a:lnTo>
                <a:lnTo>
                  <a:pt x="15230847" y="1047436"/>
                </a:lnTo>
                <a:lnTo>
                  <a:pt x="15220348" y="1094453"/>
                </a:lnTo>
                <a:lnTo>
                  <a:pt x="15203479" y="1138710"/>
                </a:lnTo>
                <a:lnTo>
                  <a:pt x="15180756" y="1179692"/>
                </a:lnTo>
                <a:lnTo>
                  <a:pt x="15152695" y="1216882"/>
                </a:lnTo>
                <a:lnTo>
                  <a:pt x="15119811" y="1249765"/>
                </a:lnTo>
                <a:lnTo>
                  <a:pt x="15082621" y="1277826"/>
                </a:lnTo>
                <a:lnTo>
                  <a:pt x="15041640" y="1300549"/>
                </a:lnTo>
                <a:lnTo>
                  <a:pt x="14997383" y="1317418"/>
                </a:lnTo>
                <a:lnTo>
                  <a:pt x="14950366" y="1327917"/>
                </a:lnTo>
                <a:lnTo>
                  <a:pt x="14901105" y="1331532"/>
                </a:lnTo>
                <a:close/>
              </a:path>
            </a:pathLst>
          </a:custGeom>
          <a:solidFill>
            <a:srgbClr val="53C79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29" name="Google Shape;229;p8"/>
          <p:cNvSpPr txBox="1"/>
          <p:nvPr>
            <p:ph type="title"/>
          </p:nvPr>
        </p:nvSpPr>
        <p:spPr>
          <a:xfrm>
            <a:off x="3576104" y="597978"/>
            <a:ext cx="11135995" cy="848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Bookman Old Style"/>
              <a:buNone/>
            </a:pPr>
            <a:r>
              <a:rPr lang="en-IN" sz="5400"/>
              <a:t>DEPARTMENT WISE PATIENT VOLUME</a:t>
            </a:r>
            <a:endParaRPr sz="5400"/>
          </a:p>
        </p:txBody>
      </p:sp>
      <p:sp>
        <p:nvSpPr>
          <p:cNvPr id="230" name="Google Shape;230;p8"/>
          <p:cNvSpPr/>
          <p:nvPr/>
        </p:nvSpPr>
        <p:spPr>
          <a:xfrm>
            <a:off x="0" y="8189538"/>
            <a:ext cx="3215005" cy="2098040"/>
          </a:xfrm>
          <a:custGeom>
            <a:rect b="b" l="l" r="r" t="t"/>
            <a:pathLst>
              <a:path extrusionOk="0" h="2098040" w="3215005">
                <a:moveTo>
                  <a:pt x="3214508" y="2097461"/>
                </a:moveTo>
                <a:lnTo>
                  <a:pt x="0" y="2097461"/>
                </a:lnTo>
                <a:lnTo>
                  <a:pt x="0" y="0"/>
                </a:lnTo>
                <a:lnTo>
                  <a:pt x="24268" y="0"/>
                </a:lnTo>
                <a:lnTo>
                  <a:pt x="75923" y="12699"/>
                </a:lnTo>
                <a:lnTo>
                  <a:pt x="127350" y="12699"/>
                </a:lnTo>
                <a:lnTo>
                  <a:pt x="330695" y="63499"/>
                </a:lnTo>
                <a:lnTo>
                  <a:pt x="380920" y="63499"/>
                </a:lnTo>
                <a:lnTo>
                  <a:pt x="725200" y="152399"/>
                </a:lnTo>
                <a:lnTo>
                  <a:pt x="773292" y="177799"/>
                </a:lnTo>
                <a:lnTo>
                  <a:pt x="915845" y="215899"/>
                </a:lnTo>
                <a:lnTo>
                  <a:pt x="962774" y="241299"/>
                </a:lnTo>
                <a:lnTo>
                  <a:pt x="1055725" y="266699"/>
                </a:lnTo>
                <a:lnTo>
                  <a:pt x="1101740" y="292099"/>
                </a:lnTo>
                <a:lnTo>
                  <a:pt x="1192826" y="317499"/>
                </a:lnTo>
                <a:lnTo>
                  <a:pt x="1237889" y="342899"/>
                </a:lnTo>
                <a:lnTo>
                  <a:pt x="1282627" y="355599"/>
                </a:lnTo>
                <a:lnTo>
                  <a:pt x="1327036" y="380999"/>
                </a:lnTo>
                <a:lnTo>
                  <a:pt x="1371112" y="393699"/>
                </a:lnTo>
                <a:lnTo>
                  <a:pt x="1458249" y="444499"/>
                </a:lnTo>
                <a:lnTo>
                  <a:pt x="1501301" y="457199"/>
                </a:lnTo>
                <a:lnTo>
                  <a:pt x="1586354" y="507999"/>
                </a:lnTo>
                <a:lnTo>
                  <a:pt x="1628347" y="520699"/>
                </a:lnTo>
                <a:lnTo>
                  <a:pt x="1752140" y="596899"/>
                </a:lnTo>
                <a:lnTo>
                  <a:pt x="1872573" y="673099"/>
                </a:lnTo>
                <a:lnTo>
                  <a:pt x="1911951" y="685799"/>
                </a:lnTo>
                <a:lnTo>
                  <a:pt x="1950940" y="711199"/>
                </a:lnTo>
                <a:lnTo>
                  <a:pt x="2027732" y="761999"/>
                </a:lnTo>
                <a:lnTo>
                  <a:pt x="2065528" y="800099"/>
                </a:lnTo>
                <a:lnTo>
                  <a:pt x="2139898" y="850899"/>
                </a:lnTo>
                <a:lnTo>
                  <a:pt x="2212614" y="901699"/>
                </a:lnTo>
                <a:lnTo>
                  <a:pt x="2283641" y="952499"/>
                </a:lnTo>
                <a:lnTo>
                  <a:pt x="2318513" y="990599"/>
                </a:lnTo>
                <a:lnTo>
                  <a:pt x="2352950" y="1015999"/>
                </a:lnTo>
                <a:lnTo>
                  <a:pt x="2420506" y="1066799"/>
                </a:lnTo>
                <a:lnTo>
                  <a:pt x="2453617" y="1104899"/>
                </a:lnTo>
                <a:lnTo>
                  <a:pt x="2486278" y="1130299"/>
                </a:lnTo>
                <a:lnTo>
                  <a:pt x="2518485" y="1155699"/>
                </a:lnTo>
                <a:lnTo>
                  <a:pt x="2550234" y="1193799"/>
                </a:lnTo>
                <a:lnTo>
                  <a:pt x="2581520" y="1219199"/>
                </a:lnTo>
                <a:lnTo>
                  <a:pt x="2612341" y="1257299"/>
                </a:lnTo>
                <a:lnTo>
                  <a:pt x="2642691" y="1282699"/>
                </a:lnTo>
                <a:lnTo>
                  <a:pt x="2672567" y="1320799"/>
                </a:lnTo>
                <a:lnTo>
                  <a:pt x="2701964" y="1346199"/>
                </a:lnTo>
                <a:lnTo>
                  <a:pt x="2730880" y="1384299"/>
                </a:lnTo>
                <a:lnTo>
                  <a:pt x="2759308" y="1409699"/>
                </a:lnTo>
                <a:lnTo>
                  <a:pt x="2787247" y="1447799"/>
                </a:lnTo>
                <a:lnTo>
                  <a:pt x="2814691" y="1473199"/>
                </a:lnTo>
                <a:lnTo>
                  <a:pt x="2841637" y="1511299"/>
                </a:lnTo>
                <a:lnTo>
                  <a:pt x="2868080" y="1549399"/>
                </a:lnTo>
                <a:lnTo>
                  <a:pt x="2894016" y="1574799"/>
                </a:lnTo>
                <a:lnTo>
                  <a:pt x="2919442" y="1612899"/>
                </a:lnTo>
                <a:lnTo>
                  <a:pt x="2944354" y="1650999"/>
                </a:lnTo>
                <a:lnTo>
                  <a:pt x="2968747" y="1676399"/>
                </a:lnTo>
                <a:lnTo>
                  <a:pt x="2992617" y="1714499"/>
                </a:lnTo>
                <a:lnTo>
                  <a:pt x="3015960" y="1752599"/>
                </a:lnTo>
                <a:lnTo>
                  <a:pt x="3038773" y="1790699"/>
                </a:lnTo>
                <a:lnTo>
                  <a:pt x="3061051" y="1816099"/>
                </a:lnTo>
                <a:lnTo>
                  <a:pt x="3082790" y="1854199"/>
                </a:lnTo>
                <a:lnTo>
                  <a:pt x="3103986" y="1892299"/>
                </a:lnTo>
                <a:lnTo>
                  <a:pt x="3124636" y="1930399"/>
                </a:lnTo>
                <a:lnTo>
                  <a:pt x="3144735" y="1968499"/>
                </a:lnTo>
                <a:lnTo>
                  <a:pt x="3164278" y="2006599"/>
                </a:lnTo>
                <a:lnTo>
                  <a:pt x="3183263" y="2044699"/>
                </a:lnTo>
                <a:lnTo>
                  <a:pt x="3201685" y="2070099"/>
                </a:lnTo>
                <a:lnTo>
                  <a:pt x="3214508" y="2097461"/>
                </a:lnTo>
                <a:close/>
              </a:path>
            </a:pathLst>
          </a:custGeom>
          <a:solidFill>
            <a:srgbClr val="11253C">
              <a:alpha val="4196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231" name="Google Shape;2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74688" y="3167156"/>
            <a:ext cx="9810749" cy="5734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437" y="3950516"/>
            <a:ext cx="114300" cy="114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437" y="6388916"/>
            <a:ext cx="114300" cy="114299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8"/>
          <p:cNvSpPr txBox="1"/>
          <p:nvPr/>
        </p:nvSpPr>
        <p:spPr>
          <a:xfrm>
            <a:off x="208037" y="2378515"/>
            <a:ext cx="7444200" cy="6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Insights:</a:t>
            </a:r>
            <a:endParaRPr sz="3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None/>
            </a:pPr>
            <a:r>
              <a:t/>
            </a:r>
            <a:endParaRPr sz="3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71500" marR="5080" rtl="0" algn="l">
              <a:lnSpc>
                <a:spcPct val="156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General Practice receives the highest number of patient visits (7,240)	indicating it is the most frequently consulted and high-demand department in the hospital.</a:t>
            </a:r>
            <a:br>
              <a:rPr lang="en-IN" sz="2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255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71500" marR="5080" rtl="0" algn="l">
              <a:lnSpc>
                <a:spcPct val="156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Departments like</a:t>
            </a:r>
            <a:r>
              <a:rPr lang="en-IN" sz="2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N" sz="2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Renal and Gastroenterology record the lowest patient volumes, suggesting either limited service utilization or potential areas for improved awareness and outreach.</a:t>
            </a:r>
            <a:endParaRPr sz="25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"/>
          <p:cNvSpPr/>
          <p:nvPr/>
        </p:nvSpPr>
        <p:spPr>
          <a:xfrm>
            <a:off x="1526344" y="362934"/>
            <a:ext cx="15234919" cy="1331595"/>
          </a:xfrm>
          <a:custGeom>
            <a:rect b="b" l="l" r="r" t="t"/>
            <a:pathLst>
              <a:path extrusionOk="0" h="1331595" w="15234919">
                <a:moveTo>
                  <a:pt x="14901105" y="1331532"/>
                </a:moveTo>
                <a:lnTo>
                  <a:pt x="333356" y="1331532"/>
                </a:lnTo>
                <a:lnTo>
                  <a:pt x="284095" y="1327917"/>
                </a:lnTo>
                <a:lnTo>
                  <a:pt x="237078" y="1317418"/>
                </a:lnTo>
                <a:lnTo>
                  <a:pt x="192821" y="1300549"/>
                </a:lnTo>
                <a:lnTo>
                  <a:pt x="151840" y="1277826"/>
                </a:lnTo>
                <a:lnTo>
                  <a:pt x="114650" y="1249765"/>
                </a:lnTo>
                <a:lnTo>
                  <a:pt x="81766" y="1216882"/>
                </a:lnTo>
                <a:lnTo>
                  <a:pt x="53705" y="1179692"/>
                </a:lnTo>
                <a:lnTo>
                  <a:pt x="30982" y="1138710"/>
                </a:lnTo>
                <a:lnTo>
                  <a:pt x="14113" y="1094453"/>
                </a:lnTo>
                <a:lnTo>
                  <a:pt x="3614" y="1047436"/>
                </a:lnTo>
                <a:lnTo>
                  <a:pt x="0" y="998175"/>
                </a:lnTo>
                <a:lnTo>
                  <a:pt x="0" y="333356"/>
                </a:lnTo>
                <a:lnTo>
                  <a:pt x="3614" y="284095"/>
                </a:lnTo>
                <a:lnTo>
                  <a:pt x="14113" y="237078"/>
                </a:lnTo>
                <a:lnTo>
                  <a:pt x="30982" y="192821"/>
                </a:lnTo>
                <a:lnTo>
                  <a:pt x="53705" y="151840"/>
                </a:lnTo>
                <a:lnTo>
                  <a:pt x="81766" y="114650"/>
                </a:lnTo>
                <a:lnTo>
                  <a:pt x="114650" y="81766"/>
                </a:lnTo>
                <a:lnTo>
                  <a:pt x="151840" y="53705"/>
                </a:lnTo>
                <a:lnTo>
                  <a:pt x="192821" y="30982"/>
                </a:lnTo>
                <a:lnTo>
                  <a:pt x="237078" y="14113"/>
                </a:lnTo>
                <a:lnTo>
                  <a:pt x="284095" y="3614"/>
                </a:lnTo>
                <a:lnTo>
                  <a:pt x="333356" y="0"/>
                </a:lnTo>
                <a:lnTo>
                  <a:pt x="14901105" y="0"/>
                </a:lnTo>
                <a:lnTo>
                  <a:pt x="14950366" y="3614"/>
                </a:lnTo>
                <a:lnTo>
                  <a:pt x="14997383" y="14113"/>
                </a:lnTo>
                <a:lnTo>
                  <a:pt x="15041640" y="30982"/>
                </a:lnTo>
                <a:lnTo>
                  <a:pt x="15082621" y="53705"/>
                </a:lnTo>
                <a:lnTo>
                  <a:pt x="15119811" y="81766"/>
                </a:lnTo>
                <a:lnTo>
                  <a:pt x="15152695" y="114650"/>
                </a:lnTo>
                <a:lnTo>
                  <a:pt x="15180756" y="151840"/>
                </a:lnTo>
                <a:lnTo>
                  <a:pt x="15203479" y="192821"/>
                </a:lnTo>
                <a:lnTo>
                  <a:pt x="15220348" y="237078"/>
                </a:lnTo>
                <a:lnTo>
                  <a:pt x="15230847" y="284095"/>
                </a:lnTo>
                <a:lnTo>
                  <a:pt x="15234462" y="333356"/>
                </a:lnTo>
                <a:lnTo>
                  <a:pt x="15234462" y="998175"/>
                </a:lnTo>
                <a:lnTo>
                  <a:pt x="15230847" y="1047436"/>
                </a:lnTo>
                <a:lnTo>
                  <a:pt x="15220348" y="1094453"/>
                </a:lnTo>
                <a:lnTo>
                  <a:pt x="15203479" y="1138710"/>
                </a:lnTo>
                <a:lnTo>
                  <a:pt x="15180756" y="1179692"/>
                </a:lnTo>
                <a:lnTo>
                  <a:pt x="15152695" y="1216882"/>
                </a:lnTo>
                <a:lnTo>
                  <a:pt x="15119811" y="1249765"/>
                </a:lnTo>
                <a:lnTo>
                  <a:pt x="15082621" y="1277826"/>
                </a:lnTo>
                <a:lnTo>
                  <a:pt x="15041640" y="1300549"/>
                </a:lnTo>
                <a:lnTo>
                  <a:pt x="14997383" y="1317418"/>
                </a:lnTo>
                <a:lnTo>
                  <a:pt x="14950366" y="1327917"/>
                </a:lnTo>
                <a:lnTo>
                  <a:pt x="14901105" y="1331532"/>
                </a:lnTo>
                <a:close/>
              </a:path>
            </a:pathLst>
          </a:custGeom>
          <a:solidFill>
            <a:srgbClr val="53C79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40" name="Google Shape;240;p9"/>
          <p:cNvSpPr txBox="1"/>
          <p:nvPr>
            <p:ph type="title"/>
          </p:nvPr>
        </p:nvSpPr>
        <p:spPr>
          <a:xfrm>
            <a:off x="2454386" y="597978"/>
            <a:ext cx="13379450" cy="848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Bookman Old Style"/>
              <a:buNone/>
            </a:pPr>
            <a:r>
              <a:rPr lang="en-IN" sz="5400"/>
              <a:t>PATIENT WAIT TIME VS SATISFACTION ANALYSIS</a:t>
            </a:r>
            <a:endParaRPr sz="5400"/>
          </a:p>
        </p:txBody>
      </p:sp>
      <p:sp>
        <p:nvSpPr>
          <p:cNvPr id="241" name="Google Shape;241;p9"/>
          <p:cNvSpPr/>
          <p:nvPr/>
        </p:nvSpPr>
        <p:spPr>
          <a:xfrm>
            <a:off x="0" y="8189538"/>
            <a:ext cx="3215005" cy="2098040"/>
          </a:xfrm>
          <a:custGeom>
            <a:rect b="b" l="l" r="r" t="t"/>
            <a:pathLst>
              <a:path extrusionOk="0" h="2098040" w="3215005">
                <a:moveTo>
                  <a:pt x="3214508" y="2097461"/>
                </a:moveTo>
                <a:lnTo>
                  <a:pt x="0" y="2097461"/>
                </a:lnTo>
                <a:lnTo>
                  <a:pt x="0" y="0"/>
                </a:lnTo>
                <a:lnTo>
                  <a:pt x="24268" y="0"/>
                </a:lnTo>
                <a:lnTo>
                  <a:pt x="75923" y="12699"/>
                </a:lnTo>
                <a:lnTo>
                  <a:pt x="127350" y="12699"/>
                </a:lnTo>
                <a:lnTo>
                  <a:pt x="330695" y="63499"/>
                </a:lnTo>
                <a:lnTo>
                  <a:pt x="380920" y="63499"/>
                </a:lnTo>
                <a:lnTo>
                  <a:pt x="725200" y="152399"/>
                </a:lnTo>
                <a:lnTo>
                  <a:pt x="773292" y="177799"/>
                </a:lnTo>
                <a:lnTo>
                  <a:pt x="915845" y="215899"/>
                </a:lnTo>
                <a:lnTo>
                  <a:pt x="962774" y="241299"/>
                </a:lnTo>
                <a:lnTo>
                  <a:pt x="1055725" y="266699"/>
                </a:lnTo>
                <a:lnTo>
                  <a:pt x="1101740" y="292099"/>
                </a:lnTo>
                <a:lnTo>
                  <a:pt x="1192826" y="317499"/>
                </a:lnTo>
                <a:lnTo>
                  <a:pt x="1237889" y="342899"/>
                </a:lnTo>
                <a:lnTo>
                  <a:pt x="1282627" y="355599"/>
                </a:lnTo>
                <a:lnTo>
                  <a:pt x="1327036" y="380999"/>
                </a:lnTo>
                <a:lnTo>
                  <a:pt x="1371112" y="393699"/>
                </a:lnTo>
                <a:lnTo>
                  <a:pt x="1458249" y="444499"/>
                </a:lnTo>
                <a:lnTo>
                  <a:pt x="1501301" y="457199"/>
                </a:lnTo>
                <a:lnTo>
                  <a:pt x="1586354" y="507999"/>
                </a:lnTo>
                <a:lnTo>
                  <a:pt x="1628347" y="520699"/>
                </a:lnTo>
                <a:lnTo>
                  <a:pt x="1752140" y="596899"/>
                </a:lnTo>
                <a:lnTo>
                  <a:pt x="1872573" y="673099"/>
                </a:lnTo>
                <a:lnTo>
                  <a:pt x="1911951" y="685799"/>
                </a:lnTo>
                <a:lnTo>
                  <a:pt x="1950940" y="711199"/>
                </a:lnTo>
                <a:lnTo>
                  <a:pt x="2027732" y="761999"/>
                </a:lnTo>
                <a:lnTo>
                  <a:pt x="2065528" y="800099"/>
                </a:lnTo>
                <a:lnTo>
                  <a:pt x="2139898" y="850899"/>
                </a:lnTo>
                <a:lnTo>
                  <a:pt x="2212614" y="901699"/>
                </a:lnTo>
                <a:lnTo>
                  <a:pt x="2283641" y="952499"/>
                </a:lnTo>
                <a:lnTo>
                  <a:pt x="2318513" y="990599"/>
                </a:lnTo>
                <a:lnTo>
                  <a:pt x="2352950" y="1015999"/>
                </a:lnTo>
                <a:lnTo>
                  <a:pt x="2420506" y="1066799"/>
                </a:lnTo>
                <a:lnTo>
                  <a:pt x="2453617" y="1104899"/>
                </a:lnTo>
                <a:lnTo>
                  <a:pt x="2486278" y="1130299"/>
                </a:lnTo>
                <a:lnTo>
                  <a:pt x="2518485" y="1155699"/>
                </a:lnTo>
                <a:lnTo>
                  <a:pt x="2550234" y="1193799"/>
                </a:lnTo>
                <a:lnTo>
                  <a:pt x="2581520" y="1219199"/>
                </a:lnTo>
                <a:lnTo>
                  <a:pt x="2612341" y="1257299"/>
                </a:lnTo>
                <a:lnTo>
                  <a:pt x="2642691" y="1282699"/>
                </a:lnTo>
                <a:lnTo>
                  <a:pt x="2672567" y="1320799"/>
                </a:lnTo>
                <a:lnTo>
                  <a:pt x="2701964" y="1346199"/>
                </a:lnTo>
                <a:lnTo>
                  <a:pt x="2730880" y="1384299"/>
                </a:lnTo>
                <a:lnTo>
                  <a:pt x="2759308" y="1409699"/>
                </a:lnTo>
                <a:lnTo>
                  <a:pt x="2787247" y="1447799"/>
                </a:lnTo>
                <a:lnTo>
                  <a:pt x="2814691" y="1473199"/>
                </a:lnTo>
                <a:lnTo>
                  <a:pt x="2841637" y="1511299"/>
                </a:lnTo>
                <a:lnTo>
                  <a:pt x="2868080" y="1549399"/>
                </a:lnTo>
                <a:lnTo>
                  <a:pt x="2894016" y="1574799"/>
                </a:lnTo>
                <a:lnTo>
                  <a:pt x="2919442" y="1612899"/>
                </a:lnTo>
                <a:lnTo>
                  <a:pt x="2944354" y="1650999"/>
                </a:lnTo>
                <a:lnTo>
                  <a:pt x="2968747" y="1676399"/>
                </a:lnTo>
                <a:lnTo>
                  <a:pt x="2992617" y="1714499"/>
                </a:lnTo>
                <a:lnTo>
                  <a:pt x="3015960" y="1752599"/>
                </a:lnTo>
                <a:lnTo>
                  <a:pt x="3038773" y="1790699"/>
                </a:lnTo>
                <a:lnTo>
                  <a:pt x="3061051" y="1816099"/>
                </a:lnTo>
                <a:lnTo>
                  <a:pt x="3082790" y="1854199"/>
                </a:lnTo>
                <a:lnTo>
                  <a:pt x="3103986" y="1892299"/>
                </a:lnTo>
                <a:lnTo>
                  <a:pt x="3124636" y="1930399"/>
                </a:lnTo>
                <a:lnTo>
                  <a:pt x="3144735" y="1968499"/>
                </a:lnTo>
                <a:lnTo>
                  <a:pt x="3164278" y="2006599"/>
                </a:lnTo>
                <a:lnTo>
                  <a:pt x="3183263" y="2044699"/>
                </a:lnTo>
                <a:lnTo>
                  <a:pt x="3201685" y="2070099"/>
                </a:lnTo>
                <a:lnTo>
                  <a:pt x="3214508" y="2097461"/>
                </a:lnTo>
                <a:close/>
              </a:path>
            </a:pathLst>
          </a:custGeom>
          <a:solidFill>
            <a:srgbClr val="11253C">
              <a:alpha val="4196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242" name="Google Shape;24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53699" y="3288901"/>
            <a:ext cx="9829799" cy="5629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437" y="3434811"/>
            <a:ext cx="114300" cy="114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437" y="6549486"/>
            <a:ext cx="114300" cy="114299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9"/>
          <p:cNvSpPr txBox="1"/>
          <p:nvPr/>
        </p:nvSpPr>
        <p:spPr>
          <a:xfrm>
            <a:off x="208037" y="2177422"/>
            <a:ext cx="6960300" cy="79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Insights:</a:t>
            </a:r>
            <a:endParaRPr sz="3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76580" marR="5080" rtl="0" algn="just">
              <a:lnSpc>
                <a:spcPct val="1563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IN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 trendline  shows  a  slight  negative correlation between patient wait time and  satisfaction  score,  indicating  that longer waiting periods generally lead to lower patient satisfaction.</a:t>
            </a:r>
            <a:br>
              <a:rPr lang="en-IN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2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76580" marR="5080" rtl="0" algn="just">
              <a:lnSpc>
                <a:spcPct val="201923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IN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However, the overall satisfaction scores remain  low  and  scattered,  suggesting that factors beyond wait time such as service quality or staff interaction  may also influence patient experience.</a:t>
            </a:r>
            <a:endParaRPr sz="2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"/>
          <p:cNvSpPr/>
          <p:nvPr/>
        </p:nvSpPr>
        <p:spPr>
          <a:xfrm>
            <a:off x="1526344" y="362934"/>
            <a:ext cx="15234919" cy="1331595"/>
          </a:xfrm>
          <a:custGeom>
            <a:rect b="b" l="l" r="r" t="t"/>
            <a:pathLst>
              <a:path extrusionOk="0" h="1331595" w="15234919">
                <a:moveTo>
                  <a:pt x="14901105" y="1331532"/>
                </a:moveTo>
                <a:lnTo>
                  <a:pt x="333356" y="1331532"/>
                </a:lnTo>
                <a:lnTo>
                  <a:pt x="284095" y="1327917"/>
                </a:lnTo>
                <a:lnTo>
                  <a:pt x="237078" y="1317418"/>
                </a:lnTo>
                <a:lnTo>
                  <a:pt x="192821" y="1300549"/>
                </a:lnTo>
                <a:lnTo>
                  <a:pt x="151840" y="1277826"/>
                </a:lnTo>
                <a:lnTo>
                  <a:pt x="114650" y="1249765"/>
                </a:lnTo>
                <a:lnTo>
                  <a:pt x="81766" y="1216882"/>
                </a:lnTo>
                <a:lnTo>
                  <a:pt x="53705" y="1179692"/>
                </a:lnTo>
                <a:lnTo>
                  <a:pt x="30982" y="1138710"/>
                </a:lnTo>
                <a:lnTo>
                  <a:pt x="14113" y="1094453"/>
                </a:lnTo>
                <a:lnTo>
                  <a:pt x="3614" y="1047436"/>
                </a:lnTo>
                <a:lnTo>
                  <a:pt x="0" y="998175"/>
                </a:lnTo>
                <a:lnTo>
                  <a:pt x="0" y="333356"/>
                </a:lnTo>
                <a:lnTo>
                  <a:pt x="3614" y="284095"/>
                </a:lnTo>
                <a:lnTo>
                  <a:pt x="14113" y="237078"/>
                </a:lnTo>
                <a:lnTo>
                  <a:pt x="30982" y="192821"/>
                </a:lnTo>
                <a:lnTo>
                  <a:pt x="53705" y="151840"/>
                </a:lnTo>
                <a:lnTo>
                  <a:pt x="81766" y="114650"/>
                </a:lnTo>
                <a:lnTo>
                  <a:pt x="114650" y="81766"/>
                </a:lnTo>
                <a:lnTo>
                  <a:pt x="151840" y="53705"/>
                </a:lnTo>
                <a:lnTo>
                  <a:pt x="192821" y="30982"/>
                </a:lnTo>
                <a:lnTo>
                  <a:pt x="237078" y="14113"/>
                </a:lnTo>
                <a:lnTo>
                  <a:pt x="284095" y="3614"/>
                </a:lnTo>
                <a:lnTo>
                  <a:pt x="333356" y="0"/>
                </a:lnTo>
                <a:lnTo>
                  <a:pt x="14901105" y="0"/>
                </a:lnTo>
                <a:lnTo>
                  <a:pt x="14950366" y="3614"/>
                </a:lnTo>
                <a:lnTo>
                  <a:pt x="14997383" y="14113"/>
                </a:lnTo>
                <a:lnTo>
                  <a:pt x="15041640" y="30982"/>
                </a:lnTo>
                <a:lnTo>
                  <a:pt x="15082621" y="53705"/>
                </a:lnTo>
                <a:lnTo>
                  <a:pt x="15119811" y="81766"/>
                </a:lnTo>
                <a:lnTo>
                  <a:pt x="15152695" y="114650"/>
                </a:lnTo>
                <a:lnTo>
                  <a:pt x="15180756" y="151840"/>
                </a:lnTo>
                <a:lnTo>
                  <a:pt x="15203479" y="192821"/>
                </a:lnTo>
                <a:lnTo>
                  <a:pt x="15220348" y="237078"/>
                </a:lnTo>
                <a:lnTo>
                  <a:pt x="15230847" y="284095"/>
                </a:lnTo>
                <a:lnTo>
                  <a:pt x="15234462" y="333356"/>
                </a:lnTo>
                <a:lnTo>
                  <a:pt x="15234462" y="998175"/>
                </a:lnTo>
                <a:lnTo>
                  <a:pt x="15230847" y="1047436"/>
                </a:lnTo>
                <a:lnTo>
                  <a:pt x="15220348" y="1094453"/>
                </a:lnTo>
                <a:lnTo>
                  <a:pt x="15203479" y="1138710"/>
                </a:lnTo>
                <a:lnTo>
                  <a:pt x="15180756" y="1179692"/>
                </a:lnTo>
                <a:lnTo>
                  <a:pt x="15152695" y="1216882"/>
                </a:lnTo>
                <a:lnTo>
                  <a:pt x="15119811" y="1249765"/>
                </a:lnTo>
                <a:lnTo>
                  <a:pt x="15082621" y="1277826"/>
                </a:lnTo>
                <a:lnTo>
                  <a:pt x="15041640" y="1300549"/>
                </a:lnTo>
                <a:lnTo>
                  <a:pt x="14997383" y="1317418"/>
                </a:lnTo>
                <a:lnTo>
                  <a:pt x="14950366" y="1327917"/>
                </a:lnTo>
                <a:lnTo>
                  <a:pt x="14901105" y="1331532"/>
                </a:lnTo>
                <a:close/>
              </a:path>
            </a:pathLst>
          </a:custGeom>
          <a:solidFill>
            <a:srgbClr val="53C79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51" name="Google Shape;251;p10"/>
          <p:cNvSpPr txBox="1"/>
          <p:nvPr>
            <p:ph type="title"/>
          </p:nvPr>
        </p:nvSpPr>
        <p:spPr>
          <a:xfrm>
            <a:off x="4553458" y="597978"/>
            <a:ext cx="9181465" cy="848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Bookman Old Style"/>
              <a:buNone/>
            </a:pPr>
            <a:r>
              <a:rPr lang="en-IN" sz="5400"/>
              <a:t>DISCOUNT ALLOCATION ANALYSIS</a:t>
            </a:r>
            <a:endParaRPr sz="5400"/>
          </a:p>
        </p:txBody>
      </p:sp>
      <p:sp>
        <p:nvSpPr>
          <p:cNvPr id="252" name="Google Shape;252;p10"/>
          <p:cNvSpPr/>
          <p:nvPr/>
        </p:nvSpPr>
        <p:spPr>
          <a:xfrm>
            <a:off x="0" y="8189538"/>
            <a:ext cx="3215005" cy="2098040"/>
          </a:xfrm>
          <a:custGeom>
            <a:rect b="b" l="l" r="r" t="t"/>
            <a:pathLst>
              <a:path extrusionOk="0" h="2098040" w="3215005">
                <a:moveTo>
                  <a:pt x="3214508" y="2097461"/>
                </a:moveTo>
                <a:lnTo>
                  <a:pt x="0" y="2097461"/>
                </a:lnTo>
                <a:lnTo>
                  <a:pt x="0" y="0"/>
                </a:lnTo>
                <a:lnTo>
                  <a:pt x="24268" y="0"/>
                </a:lnTo>
                <a:lnTo>
                  <a:pt x="75923" y="12699"/>
                </a:lnTo>
                <a:lnTo>
                  <a:pt x="127350" y="12699"/>
                </a:lnTo>
                <a:lnTo>
                  <a:pt x="330695" y="63499"/>
                </a:lnTo>
                <a:lnTo>
                  <a:pt x="380920" y="63499"/>
                </a:lnTo>
                <a:lnTo>
                  <a:pt x="725200" y="152399"/>
                </a:lnTo>
                <a:lnTo>
                  <a:pt x="773292" y="177799"/>
                </a:lnTo>
                <a:lnTo>
                  <a:pt x="915845" y="215899"/>
                </a:lnTo>
                <a:lnTo>
                  <a:pt x="962774" y="241299"/>
                </a:lnTo>
                <a:lnTo>
                  <a:pt x="1055725" y="266699"/>
                </a:lnTo>
                <a:lnTo>
                  <a:pt x="1101740" y="292099"/>
                </a:lnTo>
                <a:lnTo>
                  <a:pt x="1192826" y="317499"/>
                </a:lnTo>
                <a:lnTo>
                  <a:pt x="1237889" y="342899"/>
                </a:lnTo>
                <a:lnTo>
                  <a:pt x="1282627" y="355599"/>
                </a:lnTo>
                <a:lnTo>
                  <a:pt x="1327036" y="380999"/>
                </a:lnTo>
                <a:lnTo>
                  <a:pt x="1371112" y="393699"/>
                </a:lnTo>
                <a:lnTo>
                  <a:pt x="1458249" y="444499"/>
                </a:lnTo>
                <a:lnTo>
                  <a:pt x="1501301" y="457199"/>
                </a:lnTo>
                <a:lnTo>
                  <a:pt x="1586354" y="507999"/>
                </a:lnTo>
                <a:lnTo>
                  <a:pt x="1628347" y="520699"/>
                </a:lnTo>
                <a:lnTo>
                  <a:pt x="1752140" y="596899"/>
                </a:lnTo>
                <a:lnTo>
                  <a:pt x="1872573" y="673099"/>
                </a:lnTo>
                <a:lnTo>
                  <a:pt x="1911951" y="685799"/>
                </a:lnTo>
                <a:lnTo>
                  <a:pt x="1950940" y="711199"/>
                </a:lnTo>
                <a:lnTo>
                  <a:pt x="2027732" y="761999"/>
                </a:lnTo>
                <a:lnTo>
                  <a:pt x="2065528" y="800099"/>
                </a:lnTo>
                <a:lnTo>
                  <a:pt x="2139898" y="850899"/>
                </a:lnTo>
                <a:lnTo>
                  <a:pt x="2212614" y="901699"/>
                </a:lnTo>
                <a:lnTo>
                  <a:pt x="2283641" y="952499"/>
                </a:lnTo>
                <a:lnTo>
                  <a:pt x="2318513" y="990599"/>
                </a:lnTo>
                <a:lnTo>
                  <a:pt x="2352950" y="1015999"/>
                </a:lnTo>
                <a:lnTo>
                  <a:pt x="2420506" y="1066799"/>
                </a:lnTo>
                <a:lnTo>
                  <a:pt x="2453617" y="1104899"/>
                </a:lnTo>
                <a:lnTo>
                  <a:pt x="2486278" y="1130299"/>
                </a:lnTo>
                <a:lnTo>
                  <a:pt x="2518485" y="1155699"/>
                </a:lnTo>
                <a:lnTo>
                  <a:pt x="2550234" y="1193799"/>
                </a:lnTo>
                <a:lnTo>
                  <a:pt x="2581520" y="1219199"/>
                </a:lnTo>
                <a:lnTo>
                  <a:pt x="2612341" y="1257299"/>
                </a:lnTo>
                <a:lnTo>
                  <a:pt x="2642691" y="1282699"/>
                </a:lnTo>
                <a:lnTo>
                  <a:pt x="2672567" y="1320799"/>
                </a:lnTo>
                <a:lnTo>
                  <a:pt x="2701964" y="1346199"/>
                </a:lnTo>
                <a:lnTo>
                  <a:pt x="2730880" y="1384299"/>
                </a:lnTo>
                <a:lnTo>
                  <a:pt x="2759308" y="1409699"/>
                </a:lnTo>
                <a:lnTo>
                  <a:pt x="2787247" y="1447799"/>
                </a:lnTo>
                <a:lnTo>
                  <a:pt x="2814691" y="1473199"/>
                </a:lnTo>
                <a:lnTo>
                  <a:pt x="2841637" y="1511299"/>
                </a:lnTo>
                <a:lnTo>
                  <a:pt x="2868080" y="1549399"/>
                </a:lnTo>
                <a:lnTo>
                  <a:pt x="2894016" y="1574799"/>
                </a:lnTo>
                <a:lnTo>
                  <a:pt x="2919442" y="1612899"/>
                </a:lnTo>
                <a:lnTo>
                  <a:pt x="2944354" y="1650999"/>
                </a:lnTo>
                <a:lnTo>
                  <a:pt x="2968747" y="1676399"/>
                </a:lnTo>
                <a:lnTo>
                  <a:pt x="2992617" y="1714499"/>
                </a:lnTo>
                <a:lnTo>
                  <a:pt x="3015960" y="1752599"/>
                </a:lnTo>
                <a:lnTo>
                  <a:pt x="3038773" y="1790699"/>
                </a:lnTo>
                <a:lnTo>
                  <a:pt x="3061051" y="1816099"/>
                </a:lnTo>
                <a:lnTo>
                  <a:pt x="3082790" y="1854199"/>
                </a:lnTo>
                <a:lnTo>
                  <a:pt x="3103986" y="1892299"/>
                </a:lnTo>
                <a:lnTo>
                  <a:pt x="3124636" y="1930399"/>
                </a:lnTo>
                <a:lnTo>
                  <a:pt x="3144735" y="1968499"/>
                </a:lnTo>
                <a:lnTo>
                  <a:pt x="3164278" y="2006599"/>
                </a:lnTo>
                <a:lnTo>
                  <a:pt x="3183263" y="2044699"/>
                </a:lnTo>
                <a:lnTo>
                  <a:pt x="3201685" y="2070099"/>
                </a:lnTo>
                <a:lnTo>
                  <a:pt x="3214508" y="2097461"/>
                </a:lnTo>
                <a:close/>
              </a:path>
            </a:pathLst>
          </a:custGeom>
          <a:solidFill>
            <a:srgbClr val="11253C">
              <a:alpha val="4196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253" name="Google Shape;25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96109" y="3193924"/>
            <a:ext cx="8820149" cy="579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0"/>
          <p:cNvSpPr txBox="1"/>
          <p:nvPr/>
        </p:nvSpPr>
        <p:spPr>
          <a:xfrm>
            <a:off x="208037" y="2177422"/>
            <a:ext cx="2934335" cy="604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Insights:</a:t>
            </a:r>
            <a:endParaRPr sz="3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5" name="Google Shape;25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387" y="3424865"/>
            <a:ext cx="114300" cy="114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387" y="6234740"/>
            <a:ext cx="114300" cy="114299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0"/>
          <p:cNvSpPr txBox="1"/>
          <p:nvPr/>
        </p:nvSpPr>
        <p:spPr>
          <a:xfrm>
            <a:off x="750962" y="3085514"/>
            <a:ext cx="7047900" cy="66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just">
              <a:lnSpc>
                <a:spcPct val="14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  discount   allocation   was   primarily determined based on age group and revenue contribution, while average satisfaction score was  considered  only  at  a  group  level  to maintain fairness and simplicity.</a:t>
            </a:r>
            <a:br>
              <a:rPr lang="en-IN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2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just">
              <a:lnSpc>
                <a:spcPct val="14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majority of patients fall under the Low discount    category,    indicating    strong- performing age groups in terms of revenue, whereas  High  discounts  were  assigned  to lower-revenue  or  less-engaged  groups  to encourage better participation</a:t>
            </a:r>
            <a:endParaRPr sz="2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1"/>
          <p:cNvSpPr/>
          <p:nvPr/>
        </p:nvSpPr>
        <p:spPr>
          <a:xfrm>
            <a:off x="1829499" y="362934"/>
            <a:ext cx="14627860" cy="1329690"/>
          </a:xfrm>
          <a:custGeom>
            <a:rect b="b" l="l" r="r" t="t"/>
            <a:pathLst>
              <a:path extrusionOk="0" h="1329689" w="14627860">
                <a:moveTo>
                  <a:pt x="14294829" y="1329284"/>
                </a:moveTo>
                <a:lnTo>
                  <a:pt x="333356" y="1329284"/>
                </a:lnTo>
                <a:lnTo>
                  <a:pt x="284095" y="1325670"/>
                </a:lnTo>
                <a:lnTo>
                  <a:pt x="237078" y="1315170"/>
                </a:lnTo>
                <a:lnTo>
                  <a:pt x="192821" y="1298301"/>
                </a:lnTo>
                <a:lnTo>
                  <a:pt x="151840" y="1275578"/>
                </a:lnTo>
                <a:lnTo>
                  <a:pt x="114650" y="1247517"/>
                </a:lnTo>
                <a:lnTo>
                  <a:pt x="81766" y="1214634"/>
                </a:lnTo>
                <a:lnTo>
                  <a:pt x="53705" y="1177444"/>
                </a:lnTo>
                <a:lnTo>
                  <a:pt x="30983" y="1136462"/>
                </a:lnTo>
                <a:lnTo>
                  <a:pt x="14114" y="1092205"/>
                </a:lnTo>
                <a:lnTo>
                  <a:pt x="3614" y="1045189"/>
                </a:lnTo>
                <a:lnTo>
                  <a:pt x="0" y="995928"/>
                </a:lnTo>
                <a:lnTo>
                  <a:pt x="0" y="333356"/>
                </a:lnTo>
                <a:lnTo>
                  <a:pt x="3614" y="284095"/>
                </a:lnTo>
                <a:lnTo>
                  <a:pt x="14114" y="237078"/>
                </a:lnTo>
                <a:lnTo>
                  <a:pt x="30983" y="192821"/>
                </a:lnTo>
                <a:lnTo>
                  <a:pt x="53705" y="151840"/>
                </a:lnTo>
                <a:lnTo>
                  <a:pt x="81766" y="114650"/>
                </a:lnTo>
                <a:lnTo>
                  <a:pt x="114650" y="81766"/>
                </a:lnTo>
                <a:lnTo>
                  <a:pt x="151840" y="53705"/>
                </a:lnTo>
                <a:lnTo>
                  <a:pt x="192821" y="30982"/>
                </a:lnTo>
                <a:lnTo>
                  <a:pt x="237078" y="14113"/>
                </a:lnTo>
                <a:lnTo>
                  <a:pt x="284095" y="3614"/>
                </a:lnTo>
                <a:lnTo>
                  <a:pt x="333356" y="0"/>
                </a:lnTo>
                <a:lnTo>
                  <a:pt x="14294829" y="0"/>
                </a:lnTo>
                <a:lnTo>
                  <a:pt x="14344090" y="3614"/>
                </a:lnTo>
                <a:lnTo>
                  <a:pt x="14391106" y="14113"/>
                </a:lnTo>
                <a:lnTo>
                  <a:pt x="14435363" y="30982"/>
                </a:lnTo>
                <a:lnTo>
                  <a:pt x="14476345" y="53705"/>
                </a:lnTo>
                <a:lnTo>
                  <a:pt x="14513535" y="81766"/>
                </a:lnTo>
                <a:lnTo>
                  <a:pt x="14546419" y="114650"/>
                </a:lnTo>
                <a:lnTo>
                  <a:pt x="14574480" y="151840"/>
                </a:lnTo>
                <a:lnTo>
                  <a:pt x="14597203" y="192821"/>
                </a:lnTo>
                <a:lnTo>
                  <a:pt x="14614072" y="237078"/>
                </a:lnTo>
                <a:lnTo>
                  <a:pt x="14624571" y="284095"/>
                </a:lnTo>
                <a:lnTo>
                  <a:pt x="14627323" y="321593"/>
                </a:lnTo>
                <a:lnTo>
                  <a:pt x="14627323" y="1007690"/>
                </a:lnTo>
                <a:lnTo>
                  <a:pt x="14614072" y="1092205"/>
                </a:lnTo>
                <a:lnTo>
                  <a:pt x="14597203" y="1136462"/>
                </a:lnTo>
                <a:lnTo>
                  <a:pt x="14574480" y="1177444"/>
                </a:lnTo>
                <a:lnTo>
                  <a:pt x="14546419" y="1214634"/>
                </a:lnTo>
                <a:lnTo>
                  <a:pt x="14513535" y="1247517"/>
                </a:lnTo>
                <a:lnTo>
                  <a:pt x="14476345" y="1275578"/>
                </a:lnTo>
                <a:lnTo>
                  <a:pt x="14435363" y="1298301"/>
                </a:lnTo>
                <a:lnTo>
                  <a:pt x="14391106" y="1315170"/>
                </a:lnTo>
                <a:lnTo>
                  <a:pt x="14344090" y="1325670"/>
                </a:lnTo>
                <a:lnTo>
                  <a:pt x="14294829" y="1329284"/>
                </a:lnTo>
                <a:close/>
              </a:path>
            </a:pathLst>
          </a:custGeom>
          <a:solidFill>
            <a:srgbClr val="53C79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63" name="Google Shape;263;p11"/>
          <p:cNvSpPr txBox="1"/>
          <p:nvPr>
            <p:ph type="title"/>
          </p:nvPr>
        </p:nvSpPr>
        <p:spPr>
          <a:xfrm>
            <a:off x="685800" y="419100"/>
            <a:ext cx="14218921" cy="993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206625">
            <a:spAutoFit/>
          </a:bodyPr>
          <a:lstStyle/>
          <a:p>
            <a:pPr indent="0" lvl="0" marL="376682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Font typeface="Bookman Old Style"/>
              <a:buNone/>
            </a:pPr>
            <a:r>
              <a:rPr lang="en-IN"/>
              <a:t>RECOMMENDATIONS</a:t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0" y="8189538"/>
            <a:ext cx="3215005" cy="2098040"/>
          </a:xfrm>
          <a:custGeom>
            <a:rect b="b" l="l" r="r" t="t"/>
            <a:pathLst>
              <a:path extrusionOk="0" h="2098040" w="3215005">
                <a:moveTo>
                  <a:pt x="3214508" y="2097461"/>
                </a:moveTo>
                <a:lnTo>
                  <a:pt x="0" y="2097461"/>
                </a:lnTo>
                <a:lnTo>
                  <a:pt x="0" y="0"/>
                </a:lnTo>
                <a:lnTo>
                  <a:pt x="24268" y="0"/>
                </a:lnTo>
                <a:lnTo>
                  <a:pt x="75923" y="12699"/>
                </a:lnTo>
                <a:lnTo>
                  <a:pt x="127350" y="12699"/>
                </a:lnTo>
                <a:lnTo>
                  <a:pt x="330695" y="63499"/>
                </a:lnTo>
                <a:lnTo>
                  <a:pt x="380920" y="63499"/>
                </a:lnTo>
                <a:lnTo>
                  <a:pt x="725200" y="152399"/>
                </a:lnTo>
                <a:lnTo>
                  <a:pt x="773292" y="177799"/>
                </a:lnTo>
                <a:lnTo>
                  <a:pt x="915845" y="215899"/>
                </a:lnTo>
                <a:lnTo>
                  <a:pt x="962774" y="241299"/>
                </a:lnTo>
                <a:lnTo>
                  <a:pt x="1055725" y="266699"/>
                </a:lnTo>
                <a:lnTo>
                  <a:pt x="1101740" y="292099"/>
                </a:lnTo>
                <a:lnTo>
                  <a:pt x="1192826" y="317499"/>
                </a:lnTo>
                <a:lnTo>
                  <a:pt x="1237889" y="342899"/>
                </a:lnTo>
                <a:lnTo>
                  <a:pt x="1282627" y="355599"/>
                </a:lnTo>
                <a:lnTo>
                  <a:pt x="1327036" y="380999"/>
                </a:lnTo>
                <a:lnTo>
                  <a:pt x="1371112" y="393699"/>
                </a:lnTo>
                <a:lnTo>
                  <a:pt x="1458249" y="444499"/>
                </a:lnTo>
                <a:lnTo>
                  <a:pt x="1501301" y="457199"/>
                </a:lnTo>
                <a:lnTo>
                  <a:pt x="1586354" y="507999"/>
                </a:lnTo>
                <a:lnTo>
                  <a:pt x="1628347" y="520699"/>
                </a:lnTo>
                <a:lnTo>
                  <a:pt x="1752140" y="596899"/>
                </a:lnTo>
                <a:lnTo>
                  <a:pt x="1872573" y="673099"/>
                </a:lnTo>
                <a:lnTo>
                  <a:pt x="1911951" y="685799"/>
                </a:lnTo>
                <a:lnTo>
                  <a:pt x="1950940" y="711199"/>
                </a:lnTo>
                <a:lnTo>
                  <a:pt x="2027732" y="761999"/>
                </a:lnTo>
                <a:lnTo>
                  <a:pt x="2065528" y="800099"/>
                </a:lnTo>
                <a:lnTo>
                  <a:pt x="2139898" y="850899"/>
                </a:lnTo>
                <a:lnTo>
                  <a:pt x="2212614" y="901699"/>
                </a:lnTo>
                <a:lnTo>
                  <a:pt x="2283641" y="952499"/>
                </a:lnTo>
                <a:lnTo>
                  <a:pt x="2318513" y="990599"/>
                </a:lnTo>
                <a:lnTo>
                  <a:pt x="2352950" y="1015999"/>
                </a:lnTo>
                <a:lnTo>
                  <a:pt x="2420506" y="1066799"/>
                </a:lnTo>
                <a:lnTo>
                  <a:pt x="2453617" y="1104899"/>
                </a:lnTo>
                <a:lnTo>
                  <a:pt x="2486278" y="1130299"/>
                </a:lnTo>
                <a:lnTo>
                  <a:pt x="2518485" y="1155699"/>
                </a:lnTo>
                <a:lnTo>
                  <a:pt x="2550234" y="1193799"/>
                </a:lnTo>
                <a:lnTo>
                  <a:pt x="2581520" y="1219199"/>
                </a:lnTo>
                <a:lnTo>
                  <a:pt x="2612341" y="1257299"/>
                </a:lnTo>
                <a:lnTo>
                  <a:pt x="2642691" y="1282699"/>
                </a:lnTo>
                <a:lnTo>
                  <a:pt x="2672567" y="1320799"/>
                </a:lnTo>
                <a:lnTo>
                  <a:pt x="2701964" y="1346199"/>
                </a:lnTo>
                <a:lnTo>
                  <a:pt x="2730880" y="1384299"/>
                </a:lnTo>
                <a:lnTo>
                  <a:pt x="2759308" y="1409699"/>
                </a:lnTo>
                <a:lnTo>
                  <a:pt x="2787247" y="1447799"/>
                </a:lnTo>
                <a:lnTo>
                  <a:pt x="2814691" y="1473199"/>
                </a:lnTo>
                <a:lnTo>
                  <a:pt x="2841637" y="1511299"/>
                </a:lnTo>
                <a:lnTo>
                  <a:pt x="2868080" y="1549399"/>
                </a:lnTo>
                <a:lnTo>
                  <a:pt x="2894016" y="1574799"/>
                </a:lnTo>
                <a:lnTo>
                  <a:pt x="2919442" y="1612899"/>
                </a:lnTo>
                <a:lnTo>
                  <a:pt x="2944354" y="1650999"/>
                </a:lnTo>
                <a:lnTo>
                  <a:pt x="2968747" y="1676399"/>
                </a:lnTo>
                <a:lnTo>
                  <a:pt x="2992617" y="1714499"/>
                </a:lnTo>
                <a:lnTo>
                  <a:pt x="3015960" y="1752599"/>
                </a:lnTo>
                <a:lnTo>
                  <a:pt x="3038773" y="1790699"/>
                </a:lnTo>
                <a:lnTo>
                  <a:pt x="3061051" y="1816099"/>
                </a:lnTo>
                <a:lnTo>
                  <a:pt x="3082790" y="1854199"/>
                </a:lnTo>
                <a:lnTo>
                  <a:pt x="3103986" y="1892299"/>
                </a:lnTo>
                <a:lnTo>
                  <a:pt x="3124636" y="1930399"/>
                </a:lnTo>
                <a:lnTo>
                  <a:pt x="3144735" y="1968499"/>
                </a:lnTo>
                <a:lnTo>
                  <a:pt x="3164278" y="2006599"/>
                </a:lnTo>
                <a:lnTo>
                  <a:pt x="3183263" y="2044699"/>
                </a:lnTo>
                <a:lnTo>
                  <a:pt x="3201685" y="2070099"/>
                </a:lnTo>
                <a:lnTo>
                  <a:pt x="3214508" y="2097461"/>
                </a:lnTo>
                <a:close/>
              </a:path>
            </a:pathLst>
          </a:custGeom>
          <a:solidFill>
            <a:srgbClr val="11253C">
              <a:alpha val="4196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265" name="Google Shape;26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599" y="4108841"/>
            <a:ext cx="142875" cy="142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599" y="5709041"/>
            <a:ext cx="142875" cy="142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599" y="7309241"/>
            <a:ext cx="142875" cy="142874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1"/>
          <p:cNvSpPr txBox="1"/>
          <p:nvPr/>
        </p:nvSpPr>
        <p:spPr>
          <a:xfrm>
            <a:off x="909494" y="2487017"/>
            <a:ext cx="15210790" cy="5935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	Optimize Doctor Allocation Across Departments</a:t>
            </a:r>
            <a:endParaRPr sz="3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09625" marR="1533525" rtl="0" algn="l">
              <a:lnSpc>
                <a:spcPct val="164100"/>
              </a:lnSpc>
              <a:spcBef>
                <a:spcPts val="4050"/>
              </a:spcBef>
              <a:spcAft>
                <a:spcPts val="0"/>
              </a:spcAft>
              <a:buNone/>
            </a:pPr>
            <a:r>
              <a:rPr lang="en-IN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Increase the number of doctors in high-revenue and high-demand departments to reduce workload and patient wait times.</a:t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09625" marR="1106170" rtl="0" algn="l">
              <a:lnSpc>
                <a:spcPct val="196875"/>
              </a:lnSpc>
              <a:spcBef>
                <a:spcPts val="620"/>
              </a:spcBef>
              <a:spcAft>
                <a:spcPts val="0"/>
              </a:spcAft>
              <a:buNone/>
            </a:pPr>
            <a:r>
              <a:rPr lang="en-IN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Redistribute staff from low-patient-volume departments to improve efficiency and service utilization.</a:t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09625" marR="5080" rtl="0" algn="l">
              <a:lnSpc>
                <a:spcPct val="19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Continuously monitor patient flow trends to plan future hiring and ensure balanced department staffing.</a:t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"/>
          <p:cNvSpPr/>
          <p:nvPr/>
        </p:nvSpPr>
        <p:spPr>
          <a:xfrm>
            <a:off x="1829499" y="362934"/>
            <a:ext cx="14627860" cy="1329690"/>
          </a:xfrm>
          <a:custGeom>
            <a:rect b="b" l="l" r="r" t="t"/>
            <a:pathLst>
              <a:path extrusionOk="0" h="1329689" w="14627860">
                <a:moveTo>
                  <a:pt x="14294829" y="1329284"/>
                </a:moveTo>
                <a:lnTo>
                  <a:pt x="333356" y="1329284"/>
                </a:lnTo>
                <a:lnTo>
                  <a:pt x="284095" y="1325670"/>
                </a:lnTo>
                <a:lnTo>
                  <a:pt x="237078" y="1315170"/>
                </a:lnTo>
                <a:lnTo>
                  <a:pt x="192821" y="1298301"/>
                </a:lnTo>
                <a:lnTo>
                  <a:pt x="151840" y="1275578"/>
                </a:lnTo>
                <a:lnTo>
                  <a:pt x="114650" y="1247517"/>
                </a:lnTo>
                <a:lnTo>
                  <a:pt x="81766" y="1214634"/>
                </a:lnTo>
                <a:lnTo>
                  <a:pt x="53705" y="1177444"/>
                </a:lnTo>
                <a:lnTo>
                  <a:pt x="30983" y="1136462"/>
                </a:lnTo>
                <a:lnTo>
                  <a:pt x="14114" y="1092205"/>
                </a:lnTo>
                <a:lnTo>
                  <a:pt x="3614" y="1045189"/>
                </a:lnTo>
                <a:lnTo>
                  <a:pt x="0" y="995928"/>
                </a:lnTo>
                <a:lnTo>
                  <a:pt x="0" y="333356"/>
                </a:lnTo>
                <a:lnTo>
                  <a:pt x="3614" y="284095"/>
                </a:lnTo>
                <a:lnTo>
                  <a:pt x="14114" y="237078"/>
                </a:lnTo>
                <a:lnTo>
                  <a:pt x="30983" y="192821"/>
                </a:lnTo>
                <a:lnTo>
                  <a:pt x="53705" y="151840"/>
                </a:lnTo>
                <a:lnTo>
                  <a:pt x="81766" y="114650"/>
                </a:lnTo>
                <a:lnTo>
                  <a:pt x="114650" y="81766"/>
                </a:lnTo>
                <a:lnTo>
                  <a:pt x="151840" y="53705"/>
                </a:lnTo>
                <a:lnTo>
                  <a:pt x="192821" y="30982"/>
                </a:lnTo>
                <a:lnTo>
                  <a:pt x="237078" y="14113"/>
                </a:lnTo>
                <a:lnTo>
                  <a:pt x="284095" y="3614"/>
                </a:lnTo>
                <a:lnTo>
                  <a:pt x="333356" y="0"/>
                </a:lnTo>
                <a:lnTo>
                  <a:pt x="14294829" y="0"/>
                </a:lnTo>
                <a:lnTo>
                  <a:pt x="14344090" y="3614"/>
                </a:lnTo>
                <a:lnTo>
                  <a:pt x="14391106" y="14113"/>
                </a:lnTo>
                <a:lnTo>
                  <a:pt x="14435363" y="30982"/>
                </a:lnTo>
                <a:lnTo>
                  <a:pt x="14476345" y="53705"/>
                </a:lnTo>
                <a:lnTo>
                  <a:pt x="14513535" y="81766"/>
                </a:lnTo>
                <a:lnTo>
                  <a:pt x="14546419" y="114650"/>
                </a:lnTo>
                <a:lnTo>
                  <a:pt x="14574480" y="151840"/>
                </a:lnTo>
                <a:lnTo>
                  <a:pt x="14597203" y="192821"/>
                </a:lnTo>
                <a:lnTo>
                  <a:pt x="14614072" y="237078"/>
                </a:lnTo>
                <a:lnTo>
                  <a:pt x="14624571" y="284095"/>
                </a:lnTo>
                <a:lnTo>
                  <a:pt x="14627323" y="321593"/>
                </a:lnTo>
                <a:lnTo>
                  <a:pt x="14627323" y="1007690"/>
                </a:lnTo>
                <a:lnTo>
                  <a:pt x="14614072" y="1092205"/>
                </a:lnTo>
                <a:lnTo>
                  <a:pt x="14597203" y="1136462"/>
                </a:lnTo>
                <a:lnTo>
                  <a:pt x="14574480" y="1177444"/>
                </a:lnTo>
                <a:lnTo>
                  <a:pt x="14546419" y="1214634"/>
                </a:lnTo>
                <a:lnTo>
                  <a:pt x="14513535" y="1247517"/>
                </a:lnTo>
                <a:lnTo>
                  <a:pt x="14476345" y="1275578"/>
                </a:lnTo>
                <a:lnTo>
                  <a:pt x="14435363" y="1298301"/>
                </a:lnTo>
                <a:lnTo>
                  <a:pt x="14391106" y="1315170"/>
                </a:lnTo>
                <a:lnTo>
                  <a:pt x="14344090" y="1325670"/>
                </a:lnTo>
                <a:lnTo>
                  <a:pt x="14294829" y="1329284"/>
                </a:lnTo>
                <a:close/>
              </a:path>
            </a:pathLst>
          </a:custGeom>
          <a:solidFill>
            <a:srgbClr val="53C79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74" name="Google Shape;274;p12"/>
          <p:cNvSpPr txBox="1"/>
          <p:nvPr>
            <p:ph type="title"/>
          </p:nvPr>
        </p:nvSpPr>
        <p:spPr>
          <a:xfrm>
            <a:off x="0" y="-114300"/>
            <a:ext cx="15530642" cy="19894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206625">
            <a:spAutoFit/>
          </a:bodyPr>
          <a:lstStyle/>
          <a:p>
            <a:pPr indent="0" lvl="0" marL="376682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Font typeface="Bookman Old Style"/>
              <a:buNone/>
            </a:pPr>
            <a:r>
              <a:rPr lang="en-IN"/>
              <a:t>RECOMMENDATIONS</a:t>
            </a:r>
            <a:endParaRPr/>
          </a:p>
        </p:txBody>
      </p:sp>
      <p:sp>
        <p:nvSpPr>
          <p:cNvPr id="275" name="Google Shape;275;p12"/>
          <p:cNvSpPr/>
          <p:nvPr/>
        </p:nvSpPr>
        <p:spPr>
          <a:xfrm>
            <a:off x="0" y="8189538"/>
            <a:ext cx="3215005" cy="2098040"/>
          </a:xfrm>
          <a:custGeom>
            <a:rect b="b" l="l" r="r" t="t"/>
            <a:pathLst>
              <a:path extrusionOk="0" h="2098040" w="3215005">
                <a:moveTo>
                  <a:pt x="3214508" y="2097461"/>
                </a:moveTo>
                <a:lnTo>
                  <a:pt x="0" y="2097461"/>
                </a:lnTo>
                <a:lnTo>
                  <a:pt x="0" y="0"/>
                </a:lnTo>
                <a:lnTo>
                  <a:pt x="24268" y="0"/>
                </a:lnTo>
                <a:lnTo>
                  <a:pt x="75923" y="12699"/>
                </a:lnTo>
                <a:lnTo>
                  <a:pt x="127350" y="12699"/>
                </a:lnTo>
                <a:lnTo>
                  <a:pt x="330695" y="63499"/>
                </a:lnTo>
                <a:lnTo>
                  <a:pt x="380920" y="63499"/>
                </a:lnTo>
                <a:lnTo>
                  <a:pt x="725200" y="152399"/>
                </a:lnTo>
                <a:lnTo>
                  <a:pt x="773292" y="177799"/>
                </a:lnTo>
                <a:lnTo>
                  <a:pt x="915845" y="215899"/>
                </a:lnTo>
                <a:lnTo>
                  <a:pt x="962774" y="241299"/>
                </a:lnTo>
                <a:lnTo>
                  <a:pt x="1055725" y="266699"/>
                </a:lnTo>
                <a:lnTo>
                  <a:pt x="1101740" y="292099"/>
                </a:lnTo>
                <a:lnTo>
                  <a:pt x="1192826" y="317499"/>
                </a:lnTo>
                <a:lnTo>
                  <a:pt x="1237889" y="342899"/>
                </a:lnTo>
                <a:lnTo>
                  <a:pt x="1282627" y="355599"/>
                </a:lnTo>
                <a:lnTo>
                  <a:pt x="1327036" y="380999"/>
                </a:lnTo>
                <a:lnTo>
                  <a:pt x="1371112" y="393699"/>
                </a:lnTo>
                <a:lnTo>
                  <a:pt x="1458249" y="444499"/>
                </a:lnTo>
                <a:lnTo>
                  <a:pt x="1501301" y="457199"/>
                </a:lnTo>
                <a:lnTo>
                  <a:pt x="1586354" y="507999"/>
                </a:lnTo>
                <a:lnTo>
                  <a:pt x="1628347" y="520699"/>
                </a:lnTo>
                <a:lnTo>
                  <a:pt x="1752140" y="596899"/>
                </a:lnTo>
                <a:lnTo>
                  <a:pt x="1872573" y="673099"/>
                </a:lnTo>
                <a:lnTo>
                  <a:pt x="1911951" y="685799"/>
                </a:lnTo>
                <a:lnTo>
                  <a:pt x="1950940" y="711199"/>
                </a:lnTo>
                <a:lnTo>
                  <a:pt x="2027732" y="761999"/>
                </a:lnTo>
                <a:lnTo>
                  <a:pt x="2065528" y="800099"/>
                </a:lnTo>
                <a:lnTo>
                  <a:pt x="2139898" y="850899"/>
                </a:lnTo>
                <a:lnTo>
                  <a:pt x="2212614" y="901699"/>
                </a:lnTo>
                <a:lnTo>
                  <a:pt x="2283641" y="952499"/>
                </a:lnTo>
                <a:lnTo>
                  <a:pt x="2318513" y="990599"/>
                </a:lnTo>
                <a:lnTo>
                  <a:pt x="2352950" y="1015999"/>
                </a:lnTo>
                <a:lnTo>
                  <a:pt x="2420506" y="1066799"/>
                </a:lnTo>
                <a:lnTo>
                  <a:pt x="2453617" y="1104899"/>
                </a:lnTo>
                <a:lnTo>
                  <a:pt x="2486278" y="1130299"/>
                </a:lnTo>
                <a:lnTo>
                  <a:pt x="2518485" y="1155699"/>
                </a:lnTo>
                <a:lnTo>
                  <a:pt x="2550234" y="1193799"/>
                </a:lnTo>
                <a:lnTo>
                  <a:pt x="2581520" y="1219199"/>
                </a:lnTo>
                <a:lnTo>
                  <a:pt x="2612341" y="1257299"/>
                </a:lnTo>
                <a:lnTo>
                  <a:pt x="2642691" y="1282699"/>
                </a:lnTo>
                <a:lnTo>
                  <a:pt x="2672567" y="1320799"/>
                </a:lnTo>
                <a:lnTo>
                  <a:pt x="2701964" y="1346199"/>
                </a:lnTo>
                <a:lnTo>
                  <a:pt x="2730880" y="1384299"/>
                </a:lnTo>
                <a:lnTo>
                  <a:pt x="2759308" y="1409699"/>
                </a:lnTo>
                <a:lnTo>
                  <a:pt x="2787247" y="1447799"/>
                </a:lnTo>
                <a:lnTo>
                  <a:pt x="2814691" y="1473199"/>
                </a:lnTo>
                <a:lnTo>
                  <a:pt x="2841637" y="1511299"/>
                </a:lnTo>
                <a:lnTo>
                  <a:pt x="2868080" y="1549399"/>
                </a:lnTo>
                <a:lnTo>
                  <a:pt x="2894016" y="1574799"/>
                </a:lnTo>
                <a:lnTo>
                  <a:pt x="2919442" y="1612899"/>
                </a:lnTo>
                <a:lnTo>
                  <a:pt x="2944354" y="1650999"/>
                </a:lnTo>
                <a:lnTo>
                  <a:pt x="2968747" y="1676399"/>
                </a:lnTo>
                <a:lnTo>
                  <a:pt x="2992617" y="1714499"/>
                </a:lnTo>
                <a:lnTo>
                  <a:pt x="3015960" y="1752599"/>
                </a:lnTo>
                <a:lnTo>
                  <a:pt x="3038773" y="1790699"/>
                </a:lnTo>
                <a:lnTo>
                  <a:pt x="3061051" y="1816099"/>
                </a:lnTo>
                <a:lnTo>
                  <a:pt x="3082790" y="1854199"/>
                </a:lnTo>
                <a:lnTo>
                  <a:pt x="3103986" y="1892299"/>
                </a:lnTo>
                <a:lnTo>
                  <a:pt x="3124636" y="1930399"/>
                </a:lnTo>
                <a:lnTo>
                  <a:pt x="3144735" y="1968499"/>
                </a:lnTo>
                <a:lnTo>
                  <a:pt x="3164278" y="2006599"/>
                </a:lnTo>
                <a:lnTo>
                  <a:pt x="3183263" y="2044699"/>
                </a:lnTo>
                <a:lnTo>
                  <a:pt x="3201685" y="2070099"/>
                </a:lnTo>
                <a:lnTo>
                  <a:pt x="3214508" y="2097461"/>
                </a:lnTo>
                <a:close/>
              </a:path>
            </a:pathLst>
          </a:custGeom>
          <a:solidFill>
            <a:srgbClr val="11253C">
              <a:alpha val="4196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276" name="Google Shape;27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599" y="4123694"/>
            <a:ext cx="152400" cy="15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599" y="5990594"/>
            <a:ext cx="152400" cy="15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599" y="7857494"/>
            <a:ext cx="152400" cy="152399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2"/>
          <p:cNvSpPr txBox="1"/>
          <p:nvPr/>
        </p:nvSpPr>
        <p:spPr>
          <a:xfrm>
            <a:off x="1117556" y="2487017"/>
            <a:ext cx="14711044" cy="66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	Strengthen Patient Feedback and Engagement System</a:t>
            </a:r>
            <a:endParaRPr sz="3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15950" marR="5080" rtl="0" algn="l">
              <a:lnSpc>
                <a:spcPct val="188500"/>
              </a:lnSpc>
              <a:spcBef>
                <a:spcPts val="3130"/>
              </a:spcBef>
              <a:spcAft>
                <a:spcPts val="0"/>
              </a:spcAft>
              <a:buNone/>
            </a:pPr>
            <a:r>
              <a:rPr lang="en-IN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large portion of missing satisfaction scores (~72%) indicates the need for a more effective and engaging feedback mechanism</a:t>
            </a:r>
            <a:endParaRPr sz="32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15950" marR="51435" rtl="0" algn="l">
              <a:lnSpc>
                <a:spcPct val="226153"/>
              </a:lnSpc>
              <a:spcBef>
                <a:spcPts val="819"/>
              </a:spcBef>
              <a:spcAft>
                <a:spcPts val="0"/>
              </a:spcAft>
              <a:buNone/>
            </a:pPr>
            <a:r>
              <a:rPr lang="en-IN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 a simple and engaging feedback mechanism (like digital kiosks or mobile surveys) to reduce missing satisfaction scores.</a:t>
            </a:r>
            <a:endParaRPr sz="32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15950" marR="588645" rtl="0" algn="l">
              <a:lnSpc>
                <a:spcPct val="226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Ensure feedback is collected consistently after each visit to capture real-time patient experiences.</a:t>
            </a:r>
            <a:endParaRPr sz="32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3"/>
          <p:cNvSpPr/>
          <p:nvPr/>
        </p:nvSpPr>
        <p:spPr>
          <a:xfrm>
            <a:off x="1829499" y="362934"/>
            <a:ext cx="14627860" cy="1329690"/>
          </a:xfrm>
          <a:custGeom>
            <a:rect b="b" l="l" r="r" t="t"/>
            <a:pathLst>
              <a:path extrusionOk="0" h="1329689" w="14627860">
                <a:moveTo>
                  <a:pt x="14294829" y="1329284"/>
                </a:moveTo>
                <a:lnTo>
                  <a:pt x="333356" y="1329284"/>
                </a:lnTo>
                <a:lnTo>
                  <a:pt x="284095" y="1325670"/>
                </a:lnTo>
                <a:lnTo>
                  <a:pt x="237078" y="1315170"/>
                </a:lnTo>
                <a:lnTo>
                  <a:pt x="192821" y="1298301"/>
                </a:lnTo>
                <a:lnTo>
                  <a:pt x="151840" y="1275578"/>
                </a:lnTo>
                <a:lnTo>
                  <a:pt x="114650" y="1247517"/>
                </a:lnTo>
                <a:lnTo>
                  <a:pt x="81766" y="1214634"/>
                </a:lnTo>
                <a:lnTo>
                  <a:pt x="53705" y="1177444"/>
                </a:lnTo>
                <a:lnTo>
                  <a:pt x="30983" y="1136462"/>
                </a:lnTo>
                <a:lnTo>
                  <a:pt x="14114" y="1092205"/>
                </a:lnTo>
                <a:lnTo>
                  <a:pt x="3614" y="1045189"/>
                </a:lnTo>
                <a:lnTo>
                  <a:pt x="0" y="995928"/>
                </a:lnTo>
                <a:lnTo>
                  <a:pt x="0" y="333356"/>
                </a:lnTo>
                <a:lnTo>
                  <a:pt x="3614" y="284095"/>
                </a:lnTo>
                <a:lnTo>
                  <a:pt x="14114" y="237078"/>
                </a:lnTo>
                <a:lnTo>
                  <a:pt x="30983" y="192821"/>
                </a:lnTo>
                <a:lnTo>
                  <a:pt x="53705" y="151840"/>
                </a:lnTo>
                <a:lnTo>
                  <a:pt x="81766" y="114650"/>
                </a:lnTo>
                <a:lnTo>
                  <a:pt x="114650" y="81766"/>
                </a:lnTo>
                <a:lnTo>
                  <a:pt x="151840" y="53705"/>
                </a:lnTo>
                <a:lnTo>
                  <a:pt x="192821" y="30982"/>
                </a:lnTo>
                <a:lnTo>
                  <a:pt x="237078" y="14113"/>
                </a:lnTo>
                <a:lnTo>
                  <a:pt x="284095" y="3614"/>
                </a:lnTo>
                <a:lnTo>
                  <a:pt x="333356" y="0"/>
                </a:lnTo>
                <a:lnTo>
                  <a:pt x="14294829" y="0"/>
                </a:lnTo>
                <a:lnTo>
                  <a:pt x="14344090" y="3614"/>
                </a:lnTo>
                <a:lnTo>
                  <a:pt x="14391106" y="14113"/>
                </a:lnTo>
                <a:lnTo>
                  <a:pt x="14435363" y="30982"/>
                </a:lnTo>
                <a:lnTo>
                  <a:pt x="14476345" y="53705"/>
                </a:lnTo>
                <a:lnTo>
                  <a:pt x="14513535" y="81766"/>
                </a:lnTo>
                <a:lnTo>
                  <a:pt x="14546419" y="114650"/>
                </a:lnTo>
                <a:lnTo>
                  <a:pt x="14574480" y="151840"/>
                </a:lnTo>
                <a:lnTo>
                  <a:pt x="14597203" y="192821"/>
                </a:lnTo>
                <a:lnTo>
                  <a:pt x="14614072" y="237078"/>
                </a:lnTo>
                <a:lnTo>
                  <a:pt x="14624571" y="284095"/>
                </a:lnTo>
                <a:lnTo>
                  <a:pt x="14627323" y="321593"/>
                </a:lnTo>
                <a:lnTo>
                  <a:pt x="14627323" y="1007690"/>
                </a:lnTo>
                <a:lnTo>
                  <a:pt x="14614072" y="1092205"/>
                </a:lnTo>
                <a:lnTo>
                  <a:pt x="14597203" y="1136462"/>
                </a:lnTo>
                <a:lnTo>
                  <a:pt x="14574480" y="1177444"/>
                </a:lnTo>
                <a:lnTo>
                  <a:pt x="14546419" y="1214634"/>
                </a:lnTo>
                <a:lnTo>
                  <a:pt x="14513535" y="1247517"/>
                </a:lnTo>
                <a:lnTo>
                  <a:pt x="14476345" y="1275578"/>
                </a:lnTo>
                <a:lnTo>
                  <a:pt x="14435363" y="1298301"/>
                </a:lnTo>
                <a:lnTo>
                  <a:pt x="14391106" y="1315170"/>
                </a:lnTo>
                <a:lnTo>
                  <a:pt x="14344090" y="1325670"/>
                </a:lnTo>
                <a:lnTo>
                  <a:pt x="14294829" y="1329284"/>
                </a:lnTo>
                <a:close/>
              </a:path>
            </a:pathLst>
          </a:custGeom>
          <a:solidFill>
            <a:srgbClr val="53C79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85" name="Google Shape;285;p13"/>
          <p:cNvSpPr txBox="1"/>
          <p:nvPr>
            <p:ph type="title"/>
          </p:nvPr>
        </p:nvSpPr>
        <p:spPr>
          <a:xfrm>
            <a:off x="228600" y="-47042"/>
            <a:ext cx="15530642" cy="19894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206625">
            <a:spAutoFit/>
          </a:bodyPr>
          <a:lstStyle/>
          <a:p>
            <a:pPr indent="0" lvl="0" marL="376682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Font typeface="Bookman Old Style"/>
              <a:buNone/>
            </a:pPr>
            <a:r>
              <a:rPr lang="en-IN"/>
              <a:t>RECOMMENDATIONS</a:t>
            </a:r>
            <a:endParaRPr/>
          </a:p>
        </p:txBody>
      </p:sp>
      <p:sp>
        <p:nvSpPr>
          <p:cNvPr id="286" name="Google Shape;286;p13"/>
          <p:cNvSpPr/>
          <p:nvPr/>
        </p:nvSpPr>
        <p:spPr>
          <a:xfrm>
            <a:off x="0" y="8189538"/>
            <a:ext cx="3215005" cy="2098040"/>
          </a:xfrm>
          <a:custGeom>
            <a:rect b="b" l="l" r="r" t="t"/>
            <a:pathLst>
              <a:path extrusionOk="0" h="2098040" w="3215005">
                <a:moveTo>
                  <a:pt x="3214508" y="2097461"/>
                </a:moveTo>
                <a:lnTo>
                  <a:pt x="0" y="2097461"/>
                </a:lnTo>
                <a:lnTo>
                  <a:pt x="0" y="0"/>
                </a:lnTo>
                <a:lnTo>
                  <a:pt x="24268" y="0"/>
                </a:lnTo>
                <a:lnTo>
                  <a:pt x="75923" y="12699"/>
                </a:lnTo>
                <a:lnTo>
                  <a:pt x="127350" y="12699"/>
                </a:lnTo>
                <a:lnTo>
                  <a:pt x="330695" y="63499"/>
                </a:lnTo>
                <a:lnTo>
                  <a:pt x="380920" y="63499"/>
                </a:lnTo>
                <a:lnTo>
                  <a:pt x="725200" y="152399"/>
                </a:lnTo>
                <a:lnTo>
                  <a:pt x="773292" y="177799"/>
                </a:lnTo>
                <a:lnTo>
                  <a:pt x="915845" y="215899"/>
                </a:lnTo>
                <a:lnTo>
                  <a:pt x="962774" y="241299"/>
                </a:lnTo>
                <a:lnTo>
                  <a:pt x="1055725" y="266699"/>
                </a:lnTo>
                <a:lnTo>
                  <a:pt x="1101740" y="292099"/>
                </a:lnTo>
                <a:lnTo>
                  <a:pt x="1192826" y="317499"/>
                </a:lnTo>
                <a:lnTo>
                  <a:pt x="1237889" y="342899"/>
                </a:lnTo>
                <a:lnTo>
                  <a:pt x="1282627" y="355599"/>
                </a:lnTo>
                <a:lnTo>
                  <a:pt x="1327036" y="380999"/>
                </a:lnTo>
                <a:lnTo>
                  <a:pt x="1371112" y="393699"/>
                </a:lnTo>
                <a:lnTo>
                  <a:pt x="1458249" y="444499"/>
                </a:lnTo>
                <a:lnTo>
                  <a:pt x="1501301" y="457199"/>
                </a:lnTo>
                <a:lnTo>
                  <a:pt x="1586354" y="507999"/>
                </a:lnTo>
                <a:lnTo>
                  <a:pt x="1628347" y="520699"/>
                </a:lnTo>
                <a:lnTo>
                  <a:pt x="1752140" y="596899"/>
                </a:lnTo>
                <a:lnTo>
                  <a:pt x="1872573" y="673099"/>
                </a:lnTo>
                <a:lnTo>
                  <a:pt x="1911951" y="685799"/>
                </a:lnTo>
                <a:lnTo>
                  <a:pt x="1950940" y="711199"/>
                </a:lnTo>
                <a:lnTo>
                  <a:pt x="2027732" y="761999"/>
                </a:lnTo>
                <a:lnTo>
                  <a:pt x="2065528" y="800099"/>
                </a:lnTo>
                <a:lnTo>
                  <a:pt x="2139898" y="850899"/>
                </a:lnTo>
                <a:lnTo>
                  <a:pt x="2212614" y="901699"/>
                </a:lnTo>
                <a:lnTo>
                  <a:pt x="2283641" y="952499"/>
                </a:lnTo>
                <a:lnTo>
                  <a:pt x="2318513" y="990599"/>
                </a:lnTo>
                <a:lnTo>
                  <a:pt x="2352950" y="1015999"/>
                </a:lnTo>
                <a:lnTo>
                  <a:pt x="2420506" y="1066799"/>
                </a:lnTo>
                <a:lnTo>
                  <a:pt x="2453617" y="1104899"/>
                </a:lnTo>
                <a:lnTo>
                  <a:pt x="2486278" y="1130299"/>
                </a:lnTo>
                <a:lnTo>
                  <a:pt x="2518485" y="1155699"/>
                </a:lnTo>
                <a:lnTo>
                  <a:pt x="2550234" y="1193799"/>
                </a:lnTo>
                <a:lnTo>
                  <a:pt x="2581520" y="1219199"/>
                </a:lnTo>
                <a:lnTo>
                  <a:pt x="2612341" y="1257299"/>
                </a:lnTo>
                <a:lnTo>
                  <a:pt x="2642691" y="1282699"/>
                </a:lnTo>
                <a:lnTo>
                  <a:pt x="2672567" y="1320799"/>
                </a:lnTo>
                <a:lnTo>
                  <a:pt x="2701964" y="1346199"/>
                </a:lnTo>
                <a:lnTo>
                  <a:pt x="2730880" y="1384299"/>
                </a:lnTo>
                <a:lnTo>
                  <a:pt x="2759308" y="1409699"/>
                </a:lnTo>
                <a:lnTo>
                  <a:pt x="2787247" y="1447799"/>
                </a:lnTo>
                <a:lnTo>
                  <a:pt x="2814691" y="1473199"/>
                </a:lnTo>
                <a:lnTo>
                  <a:pt x="2841637" y="1511299"/>
                </a:lnTo>
                <a:lnTo>
                  <a:pt x="2868080" y="1549399"/>
                </a:lnTo>
                <a:lnTo>
                  <a:pt x="2894016" y="1574799"/>
                </a:lnTo>
                <a:lnTo>
                  <a:pt x="2919442" y="1612899"/>
                </a:lnTo>
                <a:lnTo>
                  <a:pt x="2944354" y="1650999"/>
                </a:lnTo>
                <a:lnTo>
                  <a:pt x="2968747" y="1676399"/>
                </a:lnTo>
                <a:lnTo>
                  <a:pt x="2992617" y="1714499"/>
                </a:lnTo>
                <a:lnTo>
                  <a:pt x="3015960" y="1752599"/>
                </a:lnTo>
                <a:lnTo>
                  <a:pt x="3038773" y="1790699"/>
                </a:lnTo>
                <a:lnTo>
                  <a:pt x="3061051" y="1816099"/>
                </a:lnTo>
                <a:lnTo>
                  <a:pt x="3082790" y="1854199"/>
                </a:lnTo>
                <a:lnTo>
                  <a:pt x="3103986" y="1892299"/>
                </a:lnTo>
                <a:lnTo>
                  <a:pt x="3124636" y="1930399"/>
                </a:lnTo>
                <a:lnTo>
                  <a:pt x="3144735" y="1968499"/>
                </a:lnTo>
                <a:lnTo>
                  <a:pt x="3164278" y="2006599"/>
                </a:lnTo>
                <a:lnTo>
                  <a:pt x="3183263" y="2044699"/>
                </a:lnTo>
                <a:lnTo>
                  <a:pt x="3201685" y="2070099"/>
                </a:lnTo>
                <a:lnTo>
                  <a:pt x="3214508" y="2097461"/>
                </a:lnTo>
                <a:close/>
              </a:path>
            </a:pathLst>
          </a:custGeom>
          <a:solidFill>
            <a:srgbClr val="11253C">
              <a:alpha val="4196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287" name="Google Shape;2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599" y="4033917"/>
            <a:ext cx="152400" cy="15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1599" y="5843667"/>
            <a:ext cx="152400" cy="15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1599" y="7653417"/>
            <a:ext cx="152400" cy="152399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3"/>
          <p:cNvSpPr txBox="1"/>
          <p:nvPr/>
        </p:nvSpPr>
        <p:spPr>
          <a:xfrm>
            <a:off x="1015344" y="2487255"/>
            <a:ext cx="15167610" cy="6386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Refine Discount and Retention Strategies</a:t>
            </a:r>
            <a:endParaRPr sz="3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718820" marR="2250440" rtl="0" algn="l">
              <a:lnSpc>
                <a:spcPct val="182700"/>
              </a:lnSpc>
              <a:spcBef>
                <a:spcPts val="2645"/>
              </a:spcBef>
              <a:spcAft>
                <a:spcPts val="0"/>
              </a:spcAft>
              <a:buNone/>
            </a:pPr>
            <a:r>
              <a:rPr lang="en-IN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Allocate discounts primarily based on age group and revenue contribution, ensuring fairness across patient segments.</a:t>
            </a:r>
            <a:endParaRPr sz="32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718820" marR="1059815" rtl="0" algn="l">
              <a:lnSpc>
                <a:spcPct val="18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Offer higher discounts to elderly or low-revenue groups to improve accessibility and engagement.</a:t>
            </a:r>
            <a:endParaRPr sz="32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718820" marR="5080" rtl="0" algn="l">
              <a:lnSpc>
                <a:spcPct val="18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 satisfaction data improves, incorporate sat_scores into discount logic to reward loyal and satisfied patients effectively</a:t>
            </a:r>
            <a:endParaRPr sz="32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4"/>
          <p:cNvSpPr/>
          <p:nvPr/>
        </p:nvSpPr>
        <p:spPr>
          <a:xfrm>
            <a:off x="1594220" y="197575"/>
            <a:ext cx="14628494" cy="1272540"/>
          </a:xfrm>
          <a:custGeom>
            <a:rect b="b" l="l" r="r" t="t"/>
            <a:pathLst>
              <a:path extrusionOk="0" h="1272540" w="14628494">
                <a:moveTo>
                  <a:pt x="14294830" y="1272050"/>
                </a:moveTo>
                <a:lnTo>
                  <a:pt x="333356" y="1272050"/>
                </a:lnTo>
                <a:lnTo>
                  <a:pt x="284095" y="1268435"/>
                </a:lnTo>
                <a:lnTo>
                  <a:pt x="237078" y="1257936"/>
                </a:lnTo>
                <a:lnTo>
                  <a:pt x="192821" y="1241067"/>
                </a:lnTo>
                <a:lnTo>
                  <a:pt x="151840" y="1218344"/>
                </a:lnTo>
                <a:lnTo>
                  <a:pt x="114650" y="1190283"/>
                </a:lnTo>
                <a:lnTo>
                  <a:pt x="81766" y="1157399"/>
                </a:lnTo>
                <a:lnTo>
                  <a:pt x="53705" y="1120209"/>
                </a:lnTo>
                <a:lnTo>
                  <a:pt x="30982" y="1079228"/>
                </a:lnTo>
                <a:lnTo>
                  <a:pt x="14113" y="1034971"/>
                </a:lnTo>
                <a:lnTo>
                  <a:pt x="3614" y="987954"/>
                </a:lnTo>
                <a:lnTo>
                  <a:pt x="0" y="938693"/>
                </a:lnTo>
                <a:lnTo>
                  <a:pt x="0" y="333356"/>
                </a:lnTo>
                <a:lnTo>
                  <a:pt x="3614" y="284095"/>
                </a:lnTo>
                <a:lnTo>
                  <a:pt x="14113" y="237078"/>
                </a:lnTo>
                <a:lnTo>
                  <a:pt x="30982" y="192821"/>
                </a:lnTo>
                <a:lnTo>
                  <a:pt x="53705" y="151840"/>
                </a:lnTo>
                <a:lnTo>
                  <a:pt x="81766" y="114650"/>
                </a:lnTo>
                <a:lnTo>
                  <a:pt x="114650" y="81766"/>
                </a:lnTo>
                <a:lnTo>
                  <a:pt x="151840" y="53705"/>
                </a:lnTo>
                <a:lnTo>
                  <a:pt x="192821" y="30982"/>
                </a:lnTo>
                <a:lnTo>
                  <a:pt x="237078" y="14113"/>
                </a:lnTo>
                <a:lnTo>
                  <a:pt x="284095" y="3614"/>
                </a:lnTo>
                <a:lnTo>
                  <a:pt x="333356" y="0"/>
                </a:lnTo>
                <a:lnTo>
                  <a:pt x="14294830" y="0"/>
                </a:lnTo>
                <a:lnTo>
                  <a:pt x="14344091" y="3614"/>
                </a:lnTo>
                <a:lnTo>
                  <a:pt x="14391107" y="14113"/>
                </a:lnTo>
                <a:lnTo>
                  <a:pt x="14435364" y="30982"/>
                </a:lnTo>
                <a:lnTo>
                  <a:pt x="14476346" y="53705"/>
                </a:lnTo>
                <a:lnTo>
                  <a:pt x="14513536" y="81766"/>
                </a:lnTo>
                <a:lnTo>
                  <a:pt x="14546419" y="114650"/>
                </a:lnTo>
                <a:lnTo>
                  <a:pt x="14574480" y="151840"/>
                </a:lnTo>
                <a:lnTo>
                  <a:pt x="14597202" y="192821"/>
                </a:lnTo>
                <a:lnTo>
                  <a:pt x="14614071" y="237078"/>
                </a:lnTo>
                <a:lnTo>
                  <a:pt x="14624571" y="284095"/>
                </a:lnTo>
                <a:lnTo>
                  <a:pt x="14628185" y="333356"/>
                </a:lnTo>
                <a:lnTo>
                  <a:pt x="14628185" y="938693"/>
                </a:lnTo>
                <a:lnTo>
                  <a:pt x="14624571" y="987954"/>
                </a:lnTo>
                <a:lnTo>
                  <a:pt x="14614071" y="1034971"/>
                </a:lnTo>
                <a:lnTo>
                  <a:pt x="14597202" y="1079228"/>
                </a:lnTo>
                <a:lnTo>
                  <a:pt x="14574480" y="1120209"/>
                </a:lnTo>
                <a:lnTo>
                  <a:pt x="14546419" y="1157399"/>
                </a:lnTo>
                <a:lnTo>
                  <a:pt x="14513536" y="1190283"/>
                </a:lnTo>
                <a:lnTo>
                  <a:pt x="14476346" y="1218344"/>
                </a:lnTo>
                <a:lnTo>
                  <a:pt x="14435364" y="1241067"/>
                </a:lnTo>
                <a:lnTo>
                  <a:pt x="14391107" y="1257936"/>
                </a:lnTo>
                <a:lnTo>
                  <a:pt x="14344091" y="1268435"/>
                </a:lnTo>
                <a:lnTo>
                  <a:pt x="14294830" y="1272050"/>
                </a:lnTo>
                <a:close/>
              </a:path>
            </a:pathLst>
          </a:custGeom>
          <a:solidFill>
            <a:srgbClr val="53C79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96" name="Google Shape;296;p14"/>
          <p:cNvSpPr txBox="1"/>
          <p:nvPr>
            <p:ph type="title"/>
          </p:nvPr>
        </p:nvSpPr>
        <p:spPr>
          <a:xfrm>
            <a:off x="1370693" y="914401"/>
            <a:ext cx="15530642" cy="19894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69545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Font typeface="Bookman Old Style"/>
              <a:buNone/>
            </a:pPr>
            <a:r>
              <a:rPr lang="en-IN"/>
              <a:t>FINAL DASHBOARD(MAIN TAB)</a:t>
            </a:r>
            <a:endParaRPr/>
          </a:p>
        </p:txBody>
      </p:sp>
      <p:pic>
        <p:nvPicPr>
          <p:cNvPr id="297" name="Google Shape;2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8966" y="1666044"/>
            <a:ext cx="15097124" cy="8048624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4"/>
          <p:cNvSpPr txBox="1"/>
          <p:nvPr/>
        </p:nvSpPr>
        <p:spPr>
          <a:xfrm>
            <a:off x="5334000" y="391882"/>
            <a:ext cx="7367367" cy="9361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ookman Old Style"/>
              <a:buNone/>
            </a:pPr>
            <a:r>
              <a:rPr b="1" i="0" lang="en-IN" sz="6000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DASHBOARD</a:t>
            </a:r>
            <a:endParaRPr b="1" i="0" sz="6000" cap="none">
              <a:solidFill>
                <a:schemeClr val="lt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5"/>
          <p:cNvSpPr/>
          <p:nvPr/>
        </p:nvSpPr>
        <p:spPr>
          <a:xfrm>
            <a:off x="1594220" y="197575"/>
            <a:ext cx="14628494" cy="1272540"/>
          </a:xfrm>
          <a:custGeom>
            <a:rect b="b" l="l" r="r" t="t"/>
            <a:pathLst>
              <a:path extrusionOk="0" h="1272540" w="14628494">
                <a:moveTo>
                  <a:pt x="14294830" y="1272050"/>
                </a:moveTo>
                <a:lnTo>
                  <a:pt x="333356" y="1272050"/>
                </a:lnTo>
                <a:lnTo>
                  <a:pt x="284095" y="1268435"/>
                </a:lnTo>
                <a:lnTo>
                  <a:pt x="237078" y="1257936"/>
                </a:lnTo>
                <a:lnTo>
                  <a:pt x="192821" y="1241067"/>
                </a:lnTo>
                <a:lnTo>
                  <a:pt x="151840" y="1218344"/>
                </a:lnTo>
                <a:lnTo>
                  <a:pt x="114650" y="1190283"/>
                </a:lnTo>
                <a:lnTo>
                  <a:pt x="81766" y="1157399"/>
                </a:lnTo>
                <a:lnTo>
                  <a:pt x="53705" y="1120209"/>
                </a:lnTo>
                <a:lnTo>
                  <a:pt x="30982" y="1079228"/>
                </a:lnTo>
                <a:lnTo>
                  <a:pt x="14113" y="1034971"/>
                </a:lnTo>
                <a:lnTo>
                  <a:pt x="3614" y="987954"/>
                </a:lnTo>
                <a:lnTo>
                  <a:pt x="0" y="938693"/>
                </a:lnTo>
                <a:lnTo>
                  <a:pt x="0" y="333356"/>
                </a:lnTo>
                <a:lnTo>
                  <a:pt x="3614" y="284095"/>
                </a:lnTo>
                <a:lnTo>
                  <a:pt x="14113" y="237078"/>
                </a:lnTo>
                <a:lnTo>
                  <a:pt x="30982" y="192821"/>
                </a:lnTo>
                <a:lnTo>
                  <a:pt x="53705" y="151840"/>
                </a:lnTo>
                <a:lnTo>
                  <a:pt x="81766" y="114650"/>
                </a:lnTo>
                <a:lnTo>
                  <a:pt x="114650" y="81766"/>
                </a:lnTo>
                <a:lnTo>
                  <a:pt x="151840" y="53705"/>
                </a:lnTo>
                <a:lnTo>
                  <a:pt x="192821" y="30982"/>
                </a:lnTo>
                <a:lnTo>
                  <a:pt x="237078" y="14113"/>
                </a:lnTo>
                <a:lnTo>
                  <a:pt x="284095" y="3614"/>
                </a:lnTo>
                <a:lnTo>
                  <a:pt x="333356" y="0"/>
                </a:lnTo>
                <a:lnTo>
                  <a:pt x="14294830" y="0"/>
                </a:lnTo>
                <a:lnTo>
                  <a:pt x="14344091" y="3614"/>
                </a:lnTo>
                <a:lnTo>
                  <a:pt x="14391107" y="14113"/>
                </a:lnTo>
                <a:lnTo>
                  <a:pt x="14435364" y="30982"/>
                </a:lnTo>
                <a:lnTo>
                  <a:pt x="14476346" y="53705"/>
                </a:lnTo>
                <a:lnTo>
                  <a:pt x="14513536" y="81766"/>
                </a:lnTo>
                <a:lnTo>
                  <a:pt x="14546419" y="114650"/>
                </a:lnTo>
                <a:lnTo>
                  <a:pt x="14574480" y="151840"/>
                </a:lnTo>
                <a:lnTo>
                  <a:pt x="14597202" y="192821"/>
                </a:lnTo>
                <a:lnTo>
                  <a:pt x="14614071" y="237078"/>
                </a:lnTo>
                <a:lnTo>
                  <a:pt x="14624571" y="284095"/>
                </a:lnTo>
                <a:lnTo>
                  <a:pt x="14628185" y="333356"/>
                </a:lnTo>
                <a:lnTo>
                  <a:pt x="14628185" y="938693"/>
                </a:lnTo>
                <a:lnTo>
                  <a:pt x="14624571" y="987954"/>
                </a:lnTo>
                <a:lnTo>
                  <a:pt x="14614071" y="1034971"/>
                </a:lnTo>
                <a:lnTo>
                  <a:pt x="14597202" y="1079228"/>
                </a:lnTo>
                <a:lnTo>
                  <a:pt x="14574480" y="1120209"/>
                </a:lnTo>
                <a:lnTo>
                  <a:pt x="14546419" y="1157399"/>
                </a:lnTo>
                <a:lnTo>
                  <a:pt x="14513536" y="1190283"/>
                </a:lnTo>
                <a:lnTo>
                  <a:pt x="14476346" y="1218344"/>
                </a:lnTo>
                <a:lnTo>
                  <a:pt x="14435364" y="1241067"/>
                </a:lnTo>
                <a:lnTo>
                  <a:pt x="14391107" y="1257936"/>
                </a:lnTo>
                <a:lnTo>
                  <a:pt x="14344091" y="1268435"/>
                </a:lnTo>
                <a:lnTo>
                  <a:pt x="14294830" y="1272050"/>
                </a:lnTo>
                <a:close/>
              </a:path>
            </a:pathLst>
          </a:custGeom>
          <a:solidFill>
            <a:srgbClr val="53C79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04" name="Google Shape;304;p15"/>
          <p:cNvSpPr txBox="1"/>
          <p:nvPr>
            <p:ph type="title"/>
          </p:nvPr>
        </p:nvSpPr>
        <p:spPr>
          <a:xfrm>
            <a:off x="1370693" y="914401"/>
            <a:ext cx="15530642" cy="19894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11633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Font typeface="Bookman Old Style"/>
              <a:buNone/>
            </a:pPr>
            <a:r>
              <a:rPr lang="en-IN"/>
              <a:t>FINAL DASHBOARD(DOCTOR’S TAB)</a:t>
            </a:r>
            <a:endParaRPr/>
          </a:p>
        </p:txBody>
      </p:sp>
      <p:pic>
        <p:nvPicPr>
          <p:cNvPr id="305" name="Google Shape;3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8862" y="1689424"/>
            <a:ext cx="14792324" cy="8143874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5"/>
          <p:cNvSpPr txBox="1"/>
          <p:nvPr/>
        </p:nvSpPr>
        <p:spPr>
          <a:xfrm>
            <a:off x="5334000" y="391882"/>
            <a:ext cx="7367367" cy="9361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ookman Old Style"/>
              <a:buNone/>
            </a:pPr>
            <a:r>
              <a:rPr b="1" i="0" lang="en-IN" sz="6000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DASHBOARD</a:t>
            </a:r>
            <a:endParaRPr b="1" i="0" sz="6000" cap="none">
              <a:solidFill>
                <a:schemeClr val="lt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6"/>
          <p:cNvSpPr/>
          <p:nvPr/>
        </p:nvSpPr>
        <p:spPr>
          <a:xfrm>
            <a:off x="1594220" y="197575"/>
            <a:ext cx="14628494" cy="1272540"/>
          </a:xfrm>
          <a:custGeom>
            <a:rect b="b" l="l" r="r" t="t"/>
            <a:pathLst>
              <a:path extrusionOk="0" h="1272540" w="14628494">
                <a:moveTo>
                  <a:pt x="14294830" y="1272050"/>
                </a:moveTo>
                <a:lnTo>
                  <a:pt x="333356" y="1272050"/>
                </a:lnTo>
                <a:lnTo>
                  <a:pt x="284095" y="1268435"/>
                </a:lnTo>
                <a:lnTo>
                  <a:pt x="237078" y="1257936"/>
                </a:lnTo>
                <a:lnTo>
                  <a:pt x="192821" y="1241067"/>
                </a:lnTo>
                <a:lnTo>
                  <a:pt x="151840" y="1218344"/>
                </a:lnTo>
                <a:lnTo>
                  <a:pt x="114650" y="1190283"/>
                </a:lnTo>
                <a:lnTo>
                  <a:pt x="81766" y="1157399"/>
                </a:lnTo>
                <a:lnTo>
                  <a:pt x="53705" y="1120209"/>
                </a:lnTo>
                <a:lnTo>
                  <a:pt x="30982" y="1079228"/>
                </a:lnTo>
                <a:lnTo>
                  <a:pt x="14113" y="1034971"/>
                </a:lnTo>
                <a:lnTo>
                  <a:pt x="3614" y="987954"/>
                </a:lnTo>
                <a:lnTo>
                  <a:pt x="0" y="938693"/>
                </a:lnTo>
                <a:lnTo>
                  <a:pt x="0" y="333356"/>
                </a:lnTo>
                <a:lnTo>
                  <a:pt x="3614" y="284095"/>
                </a:lnTo>
                <a:lnTo>
                  <a:pt x="14113" y="237078"/>
                </a:lnTo>
                <a:lnTo>
                  <a:pt x="30982" y="192821"/>
                </a:lnTo>
                <a:lnTo>
                  <a:pt x="53705" y="151840"/>
                </a:lnTo>
                <a:lnTo>
                  <a:pt x="81766" y="114650"/>
                </a:lnTo>
                <a:lnTo>
                  <a:pt x="114650" y="81766"/>
                </a:lnTo>
                <a:lnTo>
                  <a:pt x="151840" y="53705"/>
                </a:lnTo>
                <a:lnTo>
                  <a:pt x="192821" y="30982"/>
                </a:lnTo>
                <a:lnTo>
                  <a:pt x="237078" y="14113"/>
                </a:lnTo>
                <a:lnTo>
                  <a:pt x="284095" y="3614"/>
                </a:lnTo>
                <a:lnTo>
                  <a:pt x="333356" y="0"/>
                </a:lnTo>
                <a:lnTo>
                  <a:pt x="14294830" y="0"/>
                </a:lnTo>
                <a:lnTo>
                  <a:pt x="14344091" y="3614"/>
                </a:lnTo>
                <a:lnTo>
                  <a:pt x="14391107" y="14113"/>
                </a:lnTo>
                <a:lnTo>
                  <a:pt x="14435364" y="30982"/>
                </a:lnTo>
                <a:lnTo>
                  <a:pt x="14476346" y="53705"/>
                </a:lnTo>
                <a:lnTo>
                  <a:pt x="14513536" y="81766"/>
                </a:lnTo>
                <a:lnTo>
                  <a:pt x="14546419" y="114650"/>
                </a:lnTo>
                <a:lnTo>
                  <a:pt x="14574480" y="151840"/>
                </a:lnTo>
                <a:lnTo>
                  <a:pt x="14597202" y="192821"/>
                </a:lnTo>
                <a:lnTo>
                  <a:pt x="14614071" y="237078"/>
                </a:lnTo>
                <a:lnTo>
                  <a:pt x="14624571" y="284095"/>
                </a:lnTo>
                <a:lnTo>
                  <a:pt x="14628185" y="333356"/>
                </a:lnTo>
                <a:lnTo>
                  <a:pt x="14628185" y="938693"/>
                </a:lnTo>
                <a:lnTo>
                  <a:pt x="14624571" y="987954"/>
                </a:lnTo>
                <a:lnTo>
                  <a:pt x="14614071" y="1034971"/>
                </a:lnTo>
                <a:lnTo>
                  <a:pt x="14597202" y="1079228"/>
                </a:lnTo>
                <a:lnTo>
                  <a:pt x="14574480" y="1120209"/>
                </a:lnTo>
                <a:lnTo>
                  <a:pt x="14546419" y="1157399"/>
                </a:lnTo>
                <a:lnTo>
                  <a:pt x="14513536" y="1190283"/>
                </a:lnTo>
                <a:lnTo>
                  <a:pt x="14476346" y="1218344"/>
                </a:lnTo>
                <a:lnTo>
                  <a:pt x="14435364" y="1241067"/>
                </a:lnTo>
                <a:lnTo>
                  <a:pt x="14391107" y="1257936"/>
                </a:lnTo>
                <a:lnTo>
                  <a:pt x="14344091" y="1268435"/>
                </a:lnTo>
                <a:lnTo>
                  <a:pt x="14294830" y="1272050"/>
                </a:lnTo>
                <a:close/>
              </a:path>
            </a:pathLst>
          </a:custGeom>
          <a:solidFill>
            <a:srgbClr val="53C79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12" name="Google Shape;312;p16"/>
          <p:cNvSpPr txBox="1"/>
          <p:nvPr>
            <p:ph type="title"/>
          </p:nvPr>
        </p:nvSpPr>
        <p:spPr>
          <a:xfrm>
            <a:off x="1370693" y="914401"/>
            <a:ext cx="15530642" cy="19894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09029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Font typeface="Bookman Old Style"/>
              <a:buNone/>
            </a:pPr>
            <a:r>
              <a:rPr lang="en-IN"/>
              <a:t>FINAL DASHBOARD(PATIENT’S TAB)</a:t>
            </a:r>
            <a:endParaRPr/>
          </a:p>
        </p:txBody>
      </p:sp>
      <p:pic>
        <p:nvPicPr>
          <p:cNvPr id="313" name="Google Shape;3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8708" y="1665332"/>
            <a:ext cx="14782799" cy="7941106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6"/>
          <p:cNvSpPr txBox="1"/>
          <p:nvPr/>
        </p:nvSpPr>
        <p:spPr>
          <a:xfrm>
            <a:off x="5334000" y="391882"/>
            <a:ext cx="7367367" cy="9361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ookman Old Style"/>
              <a:buNone/>
            </a:pPr>
            <a:r>
              <a:rPr b="1" i="0" lang="en-IN" sz="6000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DASHBOARD</a:t>
            </a:r>
            <a:endParaRPr b="1" i="0" sz="6000" cap="none">
              <a:solidFill>
                <a:schemeClr val="lt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1253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20" name="Google Shape;320;p17"/>
          <p:cNvSpPr/>
          <p:nvPr/>
        </p:nvSpPr>
        <p:spPr>
          <a:xfrm>
            <a:off x="0" y="8751074"/>
            <a:ext cx="2730500" cy="1536065"/>
          </a:xfrm>
          <a:custGeom>
            <a:rect b="b" l="l" r="r" t="t"/>
            <a:pathLst>
              <a:path extrusionOk="0" h="1536065" w="2730500">
                <a:moveTo>
                  <a:pt x="2730094" y="1535925"/>
                </a:moveTo>
                <a:lnTo>
                  <a:pt x="0" y="1535925"/>
                </a:lnTo>
                <a:lnTo>
                  <a:pt x="0" y="0"/>
                </a:lnTo>
                <a:lnTo>
                  <a:pt x="190129" y="47498"/>
                </a:lnTo>
                <a:lnTo>
                  <a:pt x="240354" y="47498"/>
                </a:lnTo>
                <a:lnTo>
                  <a:pt x="584634" y="136398"/>
                </a:lnTo>
                <a:lnTo>
                  <a:pt x="632727" y="161798"/>
                </a:lnTo>
                <a:lnTo>
                  <a:pt x="775279" y="199898"/>
                </a:lnTo>
                <a:lnTo>
                  <a:pt x="822208" y="225298"/>
                </a:lnTo>
                <a:lnTo>
                  <a:pt x="915159" y="250698"/>
                </a:lnTo>
                <a:lnTo>
                  <a:pt x="961174" y="276098"/>
                </a:lnTo>
                <a:lnTo>
                  <a:pt x="1052260" y="301498"/>
                </a:lnTo>
                <a:lnTo>
                  <a:pt x="1097323" y="326898"/>
                </a:lnTo>
                <a:lnTo>
                  <a:pt x="1142061" y="339598"/>
                </a:lnTo>
                <a:lnTo>
                  <a:pt x="1186470" y="364998"/>
                </a:lnTo>
                <a:lnTo>
                  <a:pt x="1230547" y="377698"/>
                </a:lnTo>
                <a:lnTo>
                  <a:pt x="1317683" y="428498"/>
                </a:lnTo>
                <a:lnTo>
                  <a:pt x="1360736" y="441198"/>
                </a:lnTo>
                <a:lnTo>
                  <a:pt x="1445789" y="491998"/>
                </a:lnTo>
                <a:lnTo>
                  <a:pt x="1487781" y="504698"/>
                </a:lnTo>
                <a:lnTo>
                  <a:pt x="1611574" y="580898"/>
                </a:lnTo>
                <a:lnTo>
                  <a:pt x="1732007" y="657098"/>
                </a:lnTo>
                <a:lnTo>
                  <a:pt x="1771385" y="669798"/>
                </a:lnTo>
                <a:lnTo>
                  <a:pt x="1810374" y="695198"/>
                </a:lnTo>
                <a:lnTo>
                  <a:pt x="1887166" y="745998"/>
                </a:lnTo>
                <a:lnTo>
                  <a:pt x="1924962" y="784098"/>
                </a:lnTo>
                <a:lnTo>
                  <a:pt x="1999332" y="834898"/>
                </a:lnTo>
                <a:lnTo>
                  <a:pt x="2072048" y="885698"/>
                </a:lnTo>
                <a:lnTo>
                  <a:pt x="2143076" y="936498"/>
                </a:lnTo>
                <a:lnTo>
                  <a:pt x="2177947" y="974598"/>
                </a:lnTo>
                <a:lnTo>
                  <a:pt x="2212384" y="999998"/>
                </a:lnTo>
                <a:lnTo>
                  <a:pt x="2279940" y="1050798"/>
                </a:lnTo>
                <a:lnTo>
                  <a:pt x="2313051" y="1088898"/>
                </a:lnTo>
                <a:lnTo>
                  <a:pt x="2345712" y="1114298"/>
                </a:lnTo>
                <a:lnTo>
                  <a:pt x="2377919" y="1139698"/>
                </a:lnTo>
                <a:lnTo>
                  <a:pt x="2409668" y="1177798"/>
                </a:lnTo>
                <a:lnTo>
                  <a:pt x="2440954" y="1203198"/>
                </a:lnTo>
                <a:lnTo>
                  <a:pt x="2471775" y="1241298"/>
                </a:lnTo>
                <a:lnTo>
                  <a:pt x="2502125" y="1266698"/>
                </a:lnTo>
                <a:lnTo>
                  <a:pt x="2532001" y="1304798"/>
                </a:lnTo>
                <a:lnTo>
                  <a:pt x="2561398" y="1330198"/>
                </a:lnTo>
                <a:lnTo>
                  <a:pt x="2590314" y="1368298"/>
                </a:lnTo>
                <a:lnTo>
                  <a:pt x="2618743" y="1393698"/>
                </a:lnTo>
                <a:lnTo>
                  <a:pt x="2646681" y="1431798"/>
                </a:lnTo>
                <a:lnTo>
                  <a:pt x="2674125" y="1457198"/>
                </a:lnTo>
                <a:lnTo>
                  <a:pt x="2701071" y="1495298"/>
                </a:lnTo>
                <a:lnTo>
                  <a:pt x="2727514" y="1533398"/>
                </a:lnTo>
                <a:lnTo>
                  <a:pt x="2730094" y="1535925"/>
                </a:lnTo>
                <a:close/>
              </a:path>
            </a:pathLst>
          </a:custGeom>
          <a:solidFill>
            <a:srgbClr val="18324D">
              <a:alpha val="4196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21" name="Google Shape;321;p17"/>
          <p:cNvSpPr/>
          <p:nvPr/>
        </p:nvSpPr>
        <p:spPr>
          <a:xfrm>
            <a:off x="15548081" y="8748619"/>
            <a:ext cx="2740025" cy="1538605"/>
          </a:xfrm>
          <a:custGeom>
            <a:rect b="b" l="l" r="r" t="t"/>
            <a:pathLst>
              <a:path extrusionOk="0" h="1538604" w="2740025">
                <a:moveTo>
                  <a:pt x="2739918" y="1538379"/>
                </a:moveTo>
                <a:lnTo>
                  <a:pt x="0" y="1538379"/>
                </a:lnTo>
                <a:lnTo>
                  <a:pt x="2580" y="1535852"/>
                </a:lnTo>
                <a:lnTo>
                  <a:pt x="29023" y="1497752"/>
                </a:lnTo>
                <a:lnTo>
                  <a:pt x="55969" y="1459652"/>
                </a:lnTo>
                <a:lnTo>
                  <a:pt x="83413" y="1434252"/>
                </a:lnTo>
                <a:lnTo>
                  <a:pt x="111351" y="1396152"/>
                </a:lnTo>
                <a:lnTo>
                  <a:pt x="139780" y="1370752"/>
                </a:lnTo>
                <a:lnTo>
                  <a:pt x="168695" y="1332652"/>
                </a:lnTo>
                <a:lnTo>
                  <a:pt x="198093" y="1307252"/>
                </a:lnTo>
                <a:lnTo>
                  <a:pt x="227969" y="1269152"/>
                </a:lnTo>
                <a:lnTo>
                  <a:pt x="258319" y="1243752"/>
                </a:lnTo>
                <a:lnTo>
                  <a:pt x="289139" y="1205652"/>
                </a:lnTo>
                <a:lnTo>
                  <a:pt x="320426" y="1180252"/>
                </a:lnTo>
                <a:lnTo>
                  <a:pt x="352175" y="1142152"/>
                </a:lnTo>
                <a:lnTo>
                  <a:pt x="384382" y="1116752"/>
                </a:lnTo>
                <a:lnTo>
                  <a:pt x="417043" y="1091352"/>
                </a:lnTo>
                <a:lnTo>
                  <a:pt x="450154" y="1053252"/>
                </a:lnTo>
                <a:lnTo>
                  <a:pt x="517710" y="1002452"/>
                </a:lnTo>
                <a:lnTo>
                  <a:pt x="552147" y="977052"/>
                </a:lnTo>
                <a:lnTo>
                  <a:pt x="587018" y="938952"/>
                </a:lnTo>
                <a:lnTo>
                  <a:pt x="658046" y="888152"/>
                </a:lnTo>
                <a:lnTo>
                  <a:pt x="730761" y="837352"/>
                </a:lnTo>
                <a:lnTo>
                  <a:pt x="805132" y="786552"/>
                </a:lnTo>
                <a:lnTo>
                  <a:pt x="842928" y="748452"/>
                </a:lnTo>
                <a:lnTo>
                  <a:pt x="919720" y="697652"/>
                </a:lnTo>
                <a:lnTo>
                  <a:pt x="958709" y="672252"/>
                </a:lnTo>
                <a:lnTo>
                  <a:pt x="998087" y="659552"/>
                </a:lnTo>
                <a:lnTo>
                  <a:pt x="1118519" y="583352"/>
                </a:lnTo>
                <a:lnTo>
                  <a:pt x="1242313" y="507152"/>
                </a:lnTo>
                <a:lnTo>
                  <a:pt x="1284305" y="494452"/>
                </a:lnTo>
                <a:lnTo>
                  <a:pt x="1369358" y="443652"/>
                </a:lnTo>
                <a:lnTo>
                  <a:pt x="1412411" y="430952"/>
                </a:lnTo>
                <a:lnTo>
                  <a:pt x="1499547" y="380152"/>
                </a:lnTo>
                <a:lnTo>
                  <a:pt x="1543623" y="367452"/>
                </a:lnTo>
                <a:lnTo>
                  <a:pt x="1588033" y="342052"/>
                </a:lnTo>
                <a:lnTo>
                  <a:pt x="1632771" y="329352"/>
                </a:lnTo>
                <a:lnTo>
                  <a:pt x="1677834" y="303952"/>
                </a:lnTo>
                <a:lnTo>
                  <a:pt x="1768920" y="278552"/>
                </a:lnTo>
                <a:lnTo>
                  <a:pt x="1814934" y="253152"/>
                </a:lnTo>
                <a:lnTo>
                  <a:pt x="1907886" y="227752"/>
                </a:lnTo>
                <a:lnTo>
                  <a:pt x="1954815" y="202352"/>
                </a:lnTo>
                <a:lnTo>
                  <a:pt x="2097367" y="164252"/>
                </a:lnTo>
                <a:lnTo>
                  <a:pt x="2145460" y="138852"/>
                </a:lnTo>
                <a:lnTo>
                  <a:pt x="2489740" y="49952"/>
                </a:lnTo>
                <a:lnTo>
                  <a:pt x="2539965" y="49952"/>
                </a:lnTo>
                <a:lnTo>
                  <a:pt x="2739918" y="0"/>
                </a:lnTo>
                <a:lnTo>
                  <a:pt x="2739918" y="1538379"/>
                </a:lnTo>
                <a:close/>
              </a:path>
            </a:pathLst>
          </a:custGeom>
          <a:solidFill>
            <a:srgbClr val="18324D">
              <a:alpha val="4196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22" name="Google Shape;322;p17"/>
          <p:cNvSpPr/>
          <p:nvPr/>
        </p:nvSpPr>
        <p:spPr>
          <a:xfrm>
            <a:off x="1594220" y="197575"/>
            <a:ext cx="14628494" cy="1315720"/>
          </a:xfrm>
          <a:custGeom>
            <a:rect b="b" l="l" r="r" t="t"/>
            <a:pathLst>
              <a:path extrusionOk="0" h="1315720" w="14628494">
                <a:moveTo>
                  <a:pt x="14294828" y="1315585"/>
                </a:moveTo>
                <a:lnTo>
                  <a:pt x="333356" y="1315585"/>
                </a:lnTo>
                <a:lnTo>
                  <a:pt x="284095" y="1311970"/>
                </a:lnTo>
                <a:lnTo>
                  <a:pt x="237078" y="1301471"/>
                </a:lnTo>
                <a:lnTo>
                  <a:pt x="192821" y="1284602"/>
                </a:lnTo>
                <a:lnTo>
                  <a:pt x="151840" y="1261879"/>
                </a:lnTo>
                <a:lnTo>
                  <a:pt x="114650" y="1233818"/>
                </a:lnTo>
                <a:lnTo>
                  <a:pt x="81766" y="1200934"/>
                </a:lnTo>
                <a:lnTo>
                  <a:pt x="53705" y="1163744"/>
                </a:lnTo>
                <a:lnTo>
                  <a:pt x="30982" y="1122763"/>
                </a:lnTo>
                <a:lnTo>
                  <a:pt x="14113" y="1078506"/>
                </a:lnTo>
                <a:lnTo>
                  <a:pt x="3614" y="1031489"/>
                </a:lnTo>
                <a:lnTo>
                  <a:pt x="0" y="982228"/>
                </a:lnTo>
                <a:lnTo>
                  <a:pt x="0" y="333356"/>
                </a:lnTo>
                <a:lnTo>
                  <a:pt x="3614" y="284095"/>
                </a:lnTo>
                <a:lnTo>
                  <a:pt x="14113" y="237078"/>
                </a:lnTo>
                <a:lnTo>
                  <a:pt x="30982" y="192821"/>
                </a:lnTo>
                <a:lnTo>
                  <a:pt x="53705" y="151840"/>
                </a:lnTo>
                <a:lnTo>
                  <a:pt x="81766" y="114650"/>
                </a:lnTo>
                <a:lnTo>
                  <a:pt x="114650" y="81766"/>
                </a:lnTo>
                <a:lnTo>
                  <a:pt x="151840" y="53705"/>
                </a:lnTo>
                <a:lnTo>
                  <a:pt x="192821" y="30982"/>
                </a:lnTo>
                <a:lnTo>
                  <a:pt x="237078" y="14113"/>
                </a:lnTo>
                <a:lnTo>
                  <a:pt x="284095" y="3614"/>
                </a:lnTo>
                <a:lnTo>
                  <a:pt x="333356" y="0"/>
                </a:lnTo>
                <a:lnTo>
                  <a:pt x="14294828" y="0"/>
                </a:lnTo>
                <a:lnTo>
                  <a:pt x="14344089" y="3614"/>
                </a:lnTo>
                <a:lnTo>
                  <a:pt x="14391105" y="14113"/>
                </a:lnTo>
                <a:lnTo>
                  <a:pt x="14435362" y="30982"/>
                </a:lnTo>
                <a:lnTo>
                  <a:pt x="14476343" y="53705"/>
                </a:lnTo>
                <a:lnTo>
                  <a:pt x="14513534" y="81766"/>
                </a:lnTo>
                <a:lnTo>
                  <a:pt x="14546417" y="114650"/>
                </a:lnTo>
                <a:lnTo>
                  <a:pt x="14574478" y="151840"/>
                </a:lnTo>
                <a:lnTo>
                  <a:pt x="14597200" y="192821"/>
                </a:lnTo>
                <a:lnTo>
                  <a:pt x="14614069" y="237078"/>
                </a:lnTo>
                <a:lnTo>
                  <a:pt x="14624569" y="284095"/>
                </a:lnTo>
                <a:lnTo>
                  <a:pt x="14628183" y="333356"/>
                </a:lnTo>
                <a:lnTo>
                  <a:pt x="14628183" y="982228"/>
                </a:lnTo>
                <a:lnTo>
                  <a:pt x="14624569" y="1031489"/>
                </a:lnTo>
                <a:lnTo>
                  <a:pt x="14614069" y="1078506"/>
                </a:lnTo>
                <a:lnTo>
                  <a:pt x="14597200" y="1122763"/>
                </a:lnTo>
                <a:lnTo>
                  <a:pt x="14574478" y="1163744"/>
                </a:lnTo>
                <a:lnTo>
                  <a:pt x="14546417" y="1200934"/>
                </a:lnTo>
                <a:lnTo>
                  <a:pt x="14513534" y="1233818"/>
                </a:lnTo>
                <a:lnTo>
                  <a:pt x="14476343" y="1261879"/>
                </a:lnTo>
                <a:lnTo>
                  <a:pt x="14435362" y="1284602"/>
                </a:lnTo>
                <a:lnTo>
                  <a:pt x="14391105" y="1301471"/>
                </a:lnTo>
                <a:lnTo>
                  <a:pt x="14344089" y="1311970"/>
                </a:lnTo>
                <a:lnTo>
                  <a:pt x="14294828" y="1315585"/>
                </a:lnTo>
                <a:close/>
              </a:path>
            </a:pathLst>
          </a:custGeom>
          <a:solidFill>
            <a:srgbClr val="53C79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23" name="Google Shape;323;p17"/>
          <p:cNvSpPr txBox="1"/>
          <p:nvPr>
            <p:ph type="title"/>
          </p:nvPr>
        </p:nvSpPr>
        <p:spPr>
          <a:xfrm>
            <a:off x="5334000" y="390059"/>
            <a:ext cx="7367367" cy="9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ookman Old Style"/>
              <a:buNone/>
            </a:pPr>
            <a:r>
              <a:rPr lang="en-IN" sz="6000"/>
              <a:t>CONCLUSION</a:t>
            </a:r>
            <a:endParaRPr sz="6000"/>
          </a:p>
        </p:txBody>
      </p:sp>
      <p:pic>
        <p:nvPicPr>
          <p:cNvPr id="324" name="Google Shape;32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471" y="2488239"/>
            <a:ext cx="133349" cy="133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471" y="4717089"/>
            <a:ext cx="133349" cy="133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471" y="6202989"/>
            <a:ext cx="133349" cy="133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471" y="7688889"/>
            <a:ext cx="133349" cy="133349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7"/>
          <p:cNvSpPr txBox="1"/>
          <p:nvPr/>
        </p:nvSpPr>
        <p:spPr>
          <a:xfrm>
            <a:off x="710676" y="2011348"/>
            <a:ext cx="16880205" cy="74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421640" rtl="0" algn="l">
              <a:lnSpc>
                <a:spcPct val="157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Overall, I want to say that Columbia Asia Hospital is performing strongly in terms of revenue generation, with departments like Orthopedics and General Practice leading in both patient volume and financial contribution.</a:t>
            </a:r>
            <a:endParaRPr sz="3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16839" rtl="0" algn="l">
              <a:lnSpc>
                <a:spcPct val="188709"/>
              </a:lnSpc>
              <a:spcBef>
                <a:spcPts val="550"/>
              </a:spcBef>
              <a:spcAft>
                <a:spcPts val="0"/>
              </a:spcAft>
              <a:buNone/>
            </a:pPr>
            <a:r>
              <a:rPr lang="en-IN" sz="3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However, there is scope to optimize staffing by increasing the number of doctors in high- demand departments and redistributing resources where patient inflow is low.</a:t>
            </a:r>
            <a:endParaRPr sz="3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887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hospital should also focus on improving patient feedback collection, ensuring a more engaging and consistent satisfaction tracking system to enhance service quality.</a:t>
            </a:r>
            <a:endParaRPr sz="3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450215" rtl="0" algn="l">
              <a:lnSpc>
                <a:spcPct val="1887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Lastly, the discount strategy designed around age group and revenue serves as a fair approach, but it can be further improved by integrating reliable satisfaction data in the future for more personalized and data-driven discount allocation</a:t>
            </a:r>
            <a:endParaRPr sz="3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8"/>
          <p:cNvSpPr/>
          <p:nvPr/>
        </p:nvSpPr>
        <p:spPr>
          <a:xfrm>
            <a:off x="1566660" y="4000803"/>
            <a:ext cx="14628494" cy="1315720"/>
          </a:xfrm>
          <a:custGeom>
            <a:rect b="b" l="l" r="r" t="t"/>
            <a:pathLst>
              <a:path extrusionOk="0" h="1315720" w="14628494">
                <a:moveTo>
                  <a:pt x="14294827" y="1315585"/>
                </a:moveTo>
                <a:lnTo>
                  <a:pt x="333356" y="1315585"/>
                </a:lnTo>
                <a:lnTo>
                  <a:pt x="284095" y="1311970"/>
                </a:lnTo>
                <a:lnTo>
                  <a:pt x="237078" y="1301471"/>
                </a:lnTo>
                <a:lnTo>
                  <a:pt x="192821" y="1284602"/>
                </a:lnTo>
                <a:lnTo>
                  <a:pt x="151840" y="1261879"/>
                </a:lnTo>
                <a:lnTo>
                  <a:pt x="114650" y="1233818"/>
                </a:lnTo>
                <a:lnTo>
                  <a:pt x="81766" y="1200934"/>
                </a:lnTo>
                <a:lnTo>
                  <a:pt x="53705" y="1163744"/>
                </a:lnTo>
                <a:lnTo>
                  <a:pt x="30982" y="1122763"/>
                </a:lnTo>
                <a:lnTo>
                  <a:pt x="14113" y="1078506"/>
                </a:lnTo>
                <a:lnTo>
                  <a:pt x="3614" y="1031489"/>
                </a:lnTo>
                <a:lnTo>
                  <a:pt x="0" y="982228"/>
                </a:lnTo>
                <a:lnTo>
                  <a:pt x="0" y="333356"/>
                </a:lnTo>
                <a:lnTo>
                  <a:pt x="3614" y="284095"/>
                </a:lnTo>
                <a:lnTo>
                  <a:pt x="14113" y="237078"/>
                </a:lnTo>
                <a:lnTo>
                  <a:pt x="30982" y="192821"/>
                </a:lnTo>
                <a:lnTo>
                  <a:pt x="53705" y="151840"/>
                </a:lnTo>
                <a:lnTo>
                  <a:pt x="81766" y="114650"/>
                </a:lnTo>
                <a:lnTo>
                  <a:pt x="114650" y="81766"/>
                </a:lnTo>
                <a:lnTo>
                  <a:pt x="151840" y="53705"/>
                </a:lnTo>
                <a:lnTo>
                  <a:pt x="192821" y="30982"/>
                </a:lnTo>
                <a:lnTo>
                  <a:pt x="237078" y="14113"/>
                </a:lnTo>
                <a:lnTo>
                  <a:pt x="284095" y="3614"/>
                </a:lnTo>
                <a:lnTo>
                  <a:pt x="333356" y="0"/>
                </a:lnTo>
                <a:lnTo>
                  <a:pt x="14294827" y="0"/>
                </a:lnTo>
                <a:lnTo>
                  <a:pt x="14344088" y="3614"/>
                </a:lnTo>
                <a:lnTo>
                  <a:pt x="14391105" y="14113"/>
                </a:lnTo>
                <a:lnTo>
                  <a:pt x="14435362" y="30982"/>
                </a:lnTo>
                <a:lnTo>
                  <a:pt x="14476344" y="53705"/>
                </a:lnTo>
                <a:lnTo>
                  <a:pt x="14513534" y="81766"/>
                </a:lnTo>
                <a:lnTo>
                  <a:pt x="14546418" y="114650"/>
                </a:lnTo>
                <a:lnTo>
                  <a:pt x="14574478" y="151840"/>
                </a:lnTo>
                <a:lnTo>
                  <a:pt x="14597201" y="192821"/>
                </a:lnTo>
                <a:lnTo>
                  <a:pt x="14614070" y="237078"/>
                </a:lnTo>
                <a:lnTo>
                  <a:pt x="14624570" y="284095"/>
                </a:lnTo>
                <a:lnTo>
                  <a:pt x="14628184" y="333356"/>
                </a:lnTo>
                <a:lnTo>
                  <a:pt x="14628184" y="982228"/>
                </a:lnTo>
                <a:lnTo>
                  <a:pt x="14624570" y="1031489"/>
                </a:lnTo>
                <a:lnTo>
                  <a:pt x="14614070" y="1078506"/>
                </a:lnTo>
                <a:lnTo>
                  <a:pt x="14597201" y="1122763"/>
                </a:lnTo>
                <a:lnTo>
                  <a:pt x="14574478" y="1163744"/>
                </a:lnTo>
                <a:lnTo>
                  <a:pt x="14546418" y="1200934"/>
                </a:lnTo>
                <a:lnTo>
                  <a:pt x="14513534" y="1233818"/>
                </a:lnTo>
                <a:lnTo>
                  <a:pt x="14476344" y="1261879"/>
                </a:lnTo>
                <a:lnTo>
                  <a:pt x="14435362" y="1284602"/>
                </a:lnTo>
                <a:lnTo>
                  <a:pt x="14391105" y="1301471"/>
                </a:lnTo>
                <a:lnTo>
                  <a:pt x="14344088" y="1311970"/>
                </a:lnTo>
                <a:lnTo>
                  <a:pt x="14294827" y="1315585"/>
                </a:lnTo>
                <a:close/>
              </a:path>
            </a:pathLst>
          </a:custGeom>
          <a:solidFill>
            <a:srgbClr val="53C79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34" name="Google Shape;334;p18"/>
          <p:cNvSpPr txBox="1"/>
          <p:nvPr>
            <p:ph type="title"/>
          </p:nvPr>
        </p:nvSpPr>
        <p:spPr>
          <a:xfrm>
            <a:off x="5182665" y="4203700"/>
            <a:ext cx="7922670" cy="9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ookman Old Style"/>
              <a:buNone/>
            </a:pPr>
            <a:r>
              <a:rPr lang="en-IN" sz="6000"/>
              <a:t>THANKS!</a:t>
            </a:r>
            <a:endParaRPr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mask">
  <a:themeElements>
    <a:clrScheme name="Damask">
      <a:dk1>
        <a:srgbClr val="000000"/>
      </a:dk1>
      <a:lt1>
        <a:srgbClr val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2026-01-10T17:48:01Z</dcterms:created>
  <dc:creator>viswanath Nikhil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2025-11-06T00:00:00Z</vt:filetime>
  </property>
  <property fmtid="{D5CDD505-2E9C-101B-9397-08002B2CF9AE}" pid="3" name="Creator">
    <vt:lpwstr>Canva</vt:lpwstr>
  </property>
  <property fmtid="{D5CDD505-2E9C-101B-9397-08002B2CF9AE}" pid="4" name="LastSaved">
    <vt:filetime>2026-01-10T00:00:00Z</vt:filetime>
  </property>
  <property fmtid="{D5CDD505-2E9C-101B-9397-08002B2CF9AE}" pid="5" name="Producer">
    <vt:lpwstr>Canva</vt:lpwstr>
  </property>
</Properties>
</file>